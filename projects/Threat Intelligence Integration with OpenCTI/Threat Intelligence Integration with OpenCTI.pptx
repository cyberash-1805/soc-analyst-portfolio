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317004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973588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162059" name="Google Shape;81;p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61818253" name="Google Shape;82;p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158198" name="Google Shape;91;p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23914111" name="Google Shape;92;p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584376" name="Google Shape;130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02208434" name="Google Shape;131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11115" name="Google Shape;185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6028517" name="Google Shape;186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988769" name="Google Shape;219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97643086" name="Google Shape;220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972442" name="Google Shape;267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29337663" name="Google Shape;268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013159" name="Google Shape;336;p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48337903" name="Google Shape;337;p7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336348" name="Google Shape;376;p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2077995" name="Google Shape;377;p8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01833" name="Google Shape;428;p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98164800" name="Google Shape;429;p9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369356" name="Google Shape;473;p1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76838581" name="Google Shape;474;p10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696895" name="Google Shape;516;p1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46974230" name="Google Shape;517;p1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490560" name="Google Shape;12;p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3195424" name="Google Shape;13;p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1270700" name="Google Shape;14;p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160755" name="Google Shape;16;p3"/>
          <p:cNvSpPr txBox="1"/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5176140" name="Google Shape;17;p3"/>
          <p:cNvSpPr txBox="1"/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87720372" name="Google Shape;18;p3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1873873" name="Google Shape;19;p3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82724310" name="Google Shape;20;p3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557657" name="Google Shape;22;p4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9563030" name="Google Shape;23;p4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8496541" name="Google Shape;24;p4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3358350" name="Google Shape;25;p4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3605507" name="Google Shape;26;p4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913500" name="Google Shape;28;p5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4628522" name="Google Shape;29;p5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55856525" name="Google Shape;30;p5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4499897" name="Google Shape;31;p5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5503026" name="Google Shape;32;p5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939989" name="Google Shape;34;p6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1151201" name="Google Shape;35;p6"/>
          <p:cNvSpPr txBox="1"/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572230802" name="Google Shape;36;p6"/>
          <p:cNvSpPr txBox="1"/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1994329" name="Google Shape;37;p6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51575963" name="Google Shape;38;p6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9893086" name="Google Shape;39;p6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305302" name="Google Shape;41;p7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9213061" name="Google Shape;42;p7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907346934" name="Google Shape;43;p7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47532352" name="Google Shape;44;p7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067830314" name="Google Shape;45;p7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436117214" name="Google Shape;46;p7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7018802" name="Google Shape;47;p7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7757693" name="Google Shape;48;p7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382237" name="Google Shape;50;p8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2300470" name="Google Shape;51;p8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1449296" name="Google Shape;52;p8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1104409" name="Google Shape;53;p8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287879" name="Google Shape;55;p9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9994617" name="Google Shape;56;p9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231536045" name="Google Shape;57;p9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440114301" name="Google Shape;58;p9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6784862" name="Google Shape;59;p9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8157433" name="Google Shape;60;p9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92414" name="Google Shape;62;p10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3975841" name="Google Shape;63;p10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25487351" name="Google Shape;64;p10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1507064" name="Google Shape;65;p10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6625122" name="Google Shape;66;p10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27946823" name="Google Shape;67;p10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88" name="Google Shape;69;p1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8471511" name="Google Shape;70;p11"/>
          <p:cNvSpPr txBox="1"/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7990876" name="Google Shape;71;p1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9237483" name="Google Shape;72;p1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9821919" name="Google Shape;73;p1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95633" name="Google Shape;75;p12"/>
          <p:cNvSpPr txBox="1"/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5457565" name="Google Shape;76;p12"/>
          <p:cNvSpPr txBox="1"/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404028" name="Google Shape;77;p1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6266161" name="Google Shape;78;p1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6502464" name="Google Shape;79;p1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518691" name="Google Shape;6;p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975064899" name="Google Shape;7;p1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23718852" name="Google Shape;8;p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06833251" name="Google Shape;9;p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96897713" name="Google Shape;10;p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878316" name="Google Shape;84;p1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2311503" name="Google Shape;85;p13"/>
          <p:cNvSpPr/>
          <p:nvPr/>
        </p:nvSpPr>
        <p:spPr bwMode="auto">
          <a:xfrm>
            <a:off x="4162425" y="4558605"/>
            <a:ext cx="3867150" cy="466725"/>
          </a:xfrm>
          <a:prstGeom prst="roundRect">
            <a:avLst>
              <a:gd name="adj" fmla="val 50000"/>
            </a:avLst>
          </a:prstGeom>
          <a:solidFill>
            <a:srgbClr val="0E1628"/>
          </a:solidFill>
          <a:ln w="9525" cap="flat" cmpd="sng">
            <a:solidFill>
              <a:srgbClr val="2B37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62314640" name="Google Shape;86;p13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810250" y="188981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1978830" name="Google Shape;87;p13"/>
          <p:cNvSpPr txBox="1"/>
          <p:nvPr/>
        </p:nvSpPr>
        <p:spPr bwMode="auto">
          <a:xfrm>
            <a:off x="1576685" y="2708969"/>
            <a:ext cx="903862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Threat Intelligence Integration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 with OpenCTI</a:t>
            </a:r>
            <a:endParaRPr/>
          </a:p>
        </p:txBody>
      </p:sp>
      <p:sp>
        <p:nvSpPr>
          <p:cNvPr id="2135162142" name="Google Shape;88;p13"/>
          <p:cNvSpPr txBox="1"/>
          <p:nvPr/>
        </p:nvSpPr>
        <p:spPr bwMode="auto">
          <a:xfrm>
            <a:off x="1791890" y="3949005"/>
            <a:ext cx="8608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SOC Analyst</a:t>
            </a:r>
            <a:r>
              <a:rPr lang="en-US" sz="1500">
                <a:solidFill>
                  <a:srgbClr val="38BDF8"/>
                </a:solidFill>
                <a:latin typeface="Inter"/>
                <a:ea typeface="Inter"/>
                <a:cs typeface="Inter"/>
              </a:rPr>
              <a:t> </a:t>
            </a:r>
            <a:endParaRPr/>
          </a:p>
        </p:txBody>
      </p:sp>
      <p:sp>
        <p:nvSpPr>
          <p:cNvPr id="1910486056" name="Google Shape;89;p13"/>
          <p:cNvSpPr txBox="1"/>
          <p:nvPr/>
        </p:nvSpPr>
        <p:spPr bwMode="auto">
          <a:xfrm>
            <a:off x="3964781" y="4691955"/>
            <a:ext cx="426243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Presented by: </a:t>
            </a:r>
            <a:r>
              <a:rPr lang="en-US" sz="1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Ashogbon Ayomikun Abdulazeez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5138204" name="Google Shape;94;p14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76059" name="Google Shape;95;p14"/>
          <p:cNvSpPr/>
          <p:nvPr/>
        </p:nvSpPr>
        <p:spPr bwMode="auto">
          <a:xfrm>
            <a:off x="523875" y="1028700"/>
            <a:ext cx="11144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2922922" name="Google Shape;96;p14"/>
          <p:cNvSpPr/>
          <p:nvPr/>
        </p:nvSpPr>
        <p:spPr bwMode="auto">
          <a:xfrm>
            <a:off x="9725025" y="533400"/>
            <a:ext cx="1943100" cy="247650"/>
          </a:xfrm>
          <a:prstGeom prst="roundRect">
            <a:avLst>
              <a:gd name="adj" fmla="val 50000"/>
            </a:avLst>
          </a:prstGeom>
          <a:solidFill>
            <a:srgbClr val="0A2A3B"/>
          </a:solidFill>
          <a:ln w="9525" cap="flat" cmpd="sng">
            <a:solidFill>
              <a:srgbClr val="19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92422451" name="Google Shape;97;p14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23875" y="533400"/>
            <a:ext cx="24288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5976570" name="Google Shape;98;p14"/>
          <p:cNvSpPr txBox="1"/>
          <p:nvPr/>
        </p:nvSpPr>
        <p:spPr bwMode="auto">
          <a:xfrm>
            <a:off x="881062" y="428625"/>
            <a:ext cx="1131093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Project Overview</a:t>
            </a:r>
            <a:endParaRPr/>
          </a:p>
        </p:txBody>
      </p:sp>
      <p:sp>
        <p:nvSpPr>
          <p:cNvPr id="935106557" name="Google Shape;99;p14"/>
          <p:cNvSpPr txBox="1"/>
          <p:nvPr/>
        </p:nvSpPr>
        <p:spPr bwMode="auto">
          <a:xfrm>
            <a:off x="9820275" y="571500"/>
            <a:ext cx="1848000" cy="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EXECUTIVE SUMMARY</a:t>
            </a:r>
            <a:endParaRPr/>
          </a:p>
        </p:txBody>
      </p:sp>
      <p:sp>
        <p:nvSpPr>
          <p:cNvPr id="694669748" name="Google Shape;100;p14"/>
          <p:cNvSpPr/>
          <p:nvPr/>
        </p:nvSpPr>
        <p:spPr bwMode="auto">
          <a:xfrm>
            <a:off x="523875" y="2540496"/>
            <a:ext cx="5453062" cy="2624732"/>
          </a:xfrm>
          <a:prstGeom prst="roundRect">
            <a:avLst>
              <a:gd name="adj" fmla="val 3628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4282894" name="Google Shape;101;p14"/>
          <p:cNvSpPr/>
          <p:nvPr/>
        </p:nvSpPr>
        <p:spPr bwMode="auto">
          <a:xfrm>
            <a:off x="6215062" y="2540496"/>
            <a:ext cx="5453062" cy="1472207"/>
          </a:xfrm>
          <a:prstGeom prst="roundRect">
            <a:avLst>
              <a:gd name="adj" fmla="val 6469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5892504" name="Google Shape;102;p14"/>
          <p:cNvSpPr/>
          <p:nvPr/>
        </p:nvSpPr>
        <p:spPr bwMode="auto">
          <a:xfrm>
            <a:off x="6215062" y="4203203"/>
            <a:ext cx="5453062" cy="962025"/>
          </a:xfrm>
          <a:prstGeom prst="roundRect">
            <a:avLst>
              <a:gd name="adj" fmla="val 9900"/>
            </a:avLst>
          </a:prstGeom>
          <a:solidFill>
            <a:srgbClr val="0E2238"/>
          </a:solidFill>
          <a:ln w="9525" cap="flat" cmpd="sng">
            <a:solidFill>
              <a:srgbClr val="0A4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6982198" name="Google Shape;103;p14"/>
          <p:cNvSpPr/>
          <p:nvPr/>
        </p:nvSpPr>
        <p:spPr bwMode="auto">
          <a:xfrm>
            <a:off x="742950" y="3131046"/>
            <a:ext cx="2450306" cy="400050"/>
          </a:xfrm>
          <a:prstGeom prst="roundRect">
            <a:avLst>
              <a:gd name="adj" fmla="val 19047"/>
            </a:avLst>
          </a:prstGeom>
          <a:solidFill>
            <a:srgbClr val="0F1729"/>
          </a:solidFill>
          <a:ln w="9525" cap="flat" cmpd="sng">
            <a:solidFill>
              <a:srgbClr val="212C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2201115" name="Google Shape;104;p14"/>
          <p:cNvSpPr/>
          <p:nvPr/>
        </p:nvSpPr>
        <p:spPr bwMode="auto">
          <a:xfrm>
            <a:off x="3307556" y="3131046"/>
            <a:ext cx="2450306" cy="400050"/>
          </a:xfrm>
          <a:prstGeom prst="roundRect">
            <a:avLst>
              <a:gd name="adj" fmla="val 19047"/>
            </a:avLst>
          </a:prstGeom>
          <a:solidFill>
            <a:srgbClr val="0F1729"/>
          </a:solidFill>
          <a:ln w="9525" cap="flat" cmpd="sng">
            <a:solidFill>
              <a:srgbClr val="212C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6122929" name="Google Shape;105;p14"/>
          <p:cNvSpPr/>
          <p:nvPr/>
        </p:nvSpPr>
        <p:spPr bwMode="auto">
          <a:xfrm>
            <a:off x="742950" y="3645396"/>
            <a:ext cx="2450306" cy="400050"/>
          </a:xfrm>
          <a:prstGeom prst="roundRect">
            <a:avLst>
              <a:gd name="adj" fmla="val 19047"/>
            </a:avLst>
          </a:prstGeom>
          <a:solidFill>
            <a:srgbClr val="0F1729"/>
          </a:solidFill>
          <a:ln w="9525" cap="flat" cmpd="sng">
            <a:solidFill>
              <a:srgbClr val="212C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5763230" name="Google Shape;106;p14"/>
          <p:cNvSpPr/>
          <p:nvPr/>
        </p:nvSpPr>
        <p:spPr bwMode="auto">
          <a:xfrm>
            <a:off x="3307556" y="3645396"/>
            <a:ext cx="2450306" cy="400050"/>
          </a:xfrm>
          <a:prstGeom prst="roundRect">
            <a:avLst>
              <a:gd name="adj" fmla="val 19047"/>
            </a:avLst>
          </a:prstGeom>
          <a:solidFill>
            <a:srgbClr val="0F1729"/>
          </a:solidFill>
          <a:ln w="9525" cap="flat" cmpd="sng">
            <a:solidFill>
              <a:srgbClr val="212C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1309315" name="Google Shape;107;p14"/>
          <p:cNvSpPr/>
          <p:nvPr/>
        </p:nvSpPr>
        <p:spPr bwMode="auto">
          <a:xfrm>
            <a:off x="742950" y="4159746"/>
            <a:ext cx="2450306" cy="400050"/>
          </a:xfrm>
          <a:prstGeom prst="roundRect">
            <a:avLst>
              <a:gd name="adj" fmla="val 19047"/>
            </a:avLst>
          </a:prstGeom>
          <a:solidFill>
            <a:srgbClr val="0F1729"/>
          </a:solidFill>
          <a:ln w="9525" cap="flat" cmpd="sng">
            <a:solidFill>
              <a:srgbClr val="212C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718554" name="Google Shape;108;p14"/>
          <p:cNvSpPr/>
          <p:nvPr/>
        </p:nvSpPr>
        <p:spPr bwMode="auto">
          <a:xfrm>
            <a:off x="3307556" y="4159746"/>
            <a:ext cx="2450306" cy="400050"/>
          </a:xfrm>
          <a:prstGeom prst="roundRect">
            <a:avLst>
              <a:gd name="adj" fmla="val 19047"/>
            </a:avLst>
          </a:prstGeom>
          <a:solidFill>
            <a:srgbClr val="0F1729"/>
          </a:solidFill>
          <a:ln w="9525" cap="flat" cmpd="sng">
            <a:solidFill>
              <a:srgbClr val="212C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68047656" name="Google Shape;109;p14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742950" y="280243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891846" name="Google Shape;110;p14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6453187" y="4550866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1208069" name="Google Shape;111;p14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895350" y="3264396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781485" name="Google Shape;112;p14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3459956" y="326439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4605624" name="Google Shape;113;p14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895350" y="3778746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300402" name="Google Shape;114;p14" descr="image.png"/>
          <p:cNvPicPr/>
          <p:nvPr/>
        </p:nvPicPr>
        <p:blipFill rotWithShape="1">
          <a:blip r:embed="rId10">
            <a:alphaModFix/>
          </a:blip>
          <a:srcRect l="0" t="0" r="0" b="0"/>
          <a:stretch/>
        </p:blipFill>
        <p:spPr bwMode="auto">
          <a:xfrm>
            <a:off x="3459956" y="377874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506605" name="Google Shape;115;p14" descr="image.png"/>
          <p:cNvPicPr/>
          <p:nvPr/>
        </p:nvPicPr>
        <p:blipFill rotWithShape="1">
          <a:blip r:embed="rId11">
            <a:alphaModFix/>
          </a:blip>
          <a:srcRect l="0" t="0" r="0" b="0"/>
          <a:stretch/>
        </p:blipFill>
        <p:spPr bwMode="auto">
          <a:xfrm>
            <a:off x="895350" y="4293096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114325" name="Google Shape;116;p14" descr="image.png"/>
          <p:cNvPicPr/>
          <p:nvPr/>
        </p:nvPicPr>
        <p:blipFill rotWithShape="1">
          <a:blip r:embed="rId12">
            <a:alphaModFix/>
          </a:blip>
          <a:srcRect l="0" t="0" r="0" b="0"/>
          <a:stretch/>
        </p:blipFill>
        <p:spPr bwMode="auto">
          <a:xfrm>
            <a:off x="3459956" y="429309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333468" name="Google Shape;117;p14" descr="image.png"/>
          <p:cNvPicPr/>
          <p:nvPr/>
        </p:nvPicPr>
        <p:blipFill rotWithShape="1">
          <a:blip r:embed="rId13">
            <a:alphaModFix/>
          </a:blip>
          <a:srcRect l="0" t="0" r="0" b="0"/>
          <a:stretch/>
        </p:blipFill>
        <p:spPr bwMode="auto">
          <a:xfrm>
            <a:off x="6434137" y="280243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43078" name="Google Shape;118;p14"/>
          <p:cNvSpPr txBox="1"/>
          <p:nvPr/>
        </p:nvSpPr>
        <p:spPr bwMode="auto">
          <a:xfrm>
            <a:off x="1009650" y="2759571"/>
            <a:ext cx="484346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Key Objectives</a:t>
            </a:r>
            <a:endParaRPr/>
          </a:p>
        </p:txBody>
      </p:sp>
      <p:sp>
        <p:nvSpPr>
          <p:cNvPr id="531915390" name="Google Shape;119;p14"/>
          <p:cNvSpPr txBox="1"/>
          <p:nvPr/>
        </p:nvSpPr>
        <p:spPr bwMode="auto">
          <a:xfrm>
            <a:off x="1133475" y="3245346"/>
            <a:ext cx="20121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Add threat intel layer to Wazuh</a:t>
            </a:r>
            <a:endParaRPr/>
          </a:p>
        </p:txBody>
      </p:sp>
      <p:sp>
        <p:nvSpPr>
          <p:cNvPr id="1842448199" name="Google Shape;120;p14"/>
          <p:cNvSpPr txBox="1"/>
          <p:nvPr/>
        </p:nvSpPr>
        <p:spPr bwMode="auto">
          <a:xfrm>
            <a:off x="3659981" y="3245346"/>
            <a:ext cx="20502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Integrate external CTI feeds</a:t>
            </a:r>
            <a:endParaRPr/>
          </a:p>
        </p:txBody>
      </p:sp>
      <p:sp>
        <p:nvSpPr>
          <p:cNvPr id="1162002903" name="Google Shape;121;p14"/>
          <p:cNvSpPr txBox="1"/>
          <p:nvPr/>
        </p:nvSpPr>
        <p:spPr bwMode="auto">
          <a:xfrm>
            <a:off x="1133475" y="3759696"/>
            <a:ext cx="20121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Enrich alerts with IOC context</a:t>
            </a:r>
            <a:endParaRPr/>
          </a:p>
        </p:txBody>
      </p:sp>
      <p:sp>
        <p:nvSpPr>
          <p:cNvPr id="1746206273" name="Google Shape;122;p14"/>
          <p:cNvSpPr txBox="1"/>
          <p:nvPr/>
        </p:nvSpPr>
        <p:spPr bwMode="auto">
          <a:xfrm>
            <a:off x="3679031" y="3759696"/>
            <a:ext cx="20312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Check IPs, URLs, file hashes</a:t>
            </a:r>
            <a:endParaRPr/>
          </a:p>
        </p:txBody>
      </p:sp>
      <p:sp>
        <p:nvSpPr>
          <p:cNvPr id="627522615" name="Google Shape;123;p14"/>
          <p:cNvSpPr txBox="1"/>
          <p:nvPr/>
        </p:nvSpPr>
        <p:spPr bwMode="auto">
          <a:xfrm>
            <a:off x="1133475" y="4274046"/>
            <a:ext cx="20121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Integrate MITRE ATT&amp;CK intel</a:t>
            </a:r>
            <a:endParaRPr/>
          </a:p>
        </p:txBody>
      </p:sp>
      <p:sp>
        <p:nvSpPr>
          <p:cNvPr id="1975919285" name="Google Shape;124;p14"/>
          <p:cNvSpPr txBox="1"/>
          <p:nvPr/>
        </p:nvSpPr>
        <p:spPr bwMode="auto">
          <a:xfrm>
            <a:off x="3679031" y="4274046"/>
            <a:ext cx="20312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Apply CTI to detection rules</a:t>
            </a:r>
            <a:endParaRPr/>
          </a:p>
        </p:txBody>
      </p:sp>
      <p:sp>
        <p:nvSpPr>
          <p:cNvPr id="1017213487" name="Google Shape;125;p14"/>
          <p:cNvSpPr txBox="1"/>
          <p:nvPr/>
        </p:nvSpPr>
        <p:spPr bwMode="auto">
          <a:xfrm>
            <a:off x="6700837" y="2759571"/>
            <a:ext cx="484346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Context &amp; Scope</a:t>
            </a:r>
            <a:endParaRPr/>
          </a:p>
        </p:txBody>
      </p:sp>
      <p:sp>
        <p:nvSpPr>
          <p:cNvPr id="297552904" name="Google Shape;126;p14"/>
          <p:cNvSpPr txBox="1"/>
          <p:nvPr/>
        </p:nvSpPr>
        <p:spPr bwMode="auto">
          <a:xfrm>
            <a:off x="6434137" y="3131046"/>
            <a:ext cx="5110162" cy="6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This project extended an existing SOC homelab environment by integrating OpenCTI as a dedicated Threat Intelligence Platform (TIP), driving enriched security telemetry and automated threat context.</a:t>
            </a:r>
            <a:endParaRPr/>
          </a:p>
        </p:txBody>
      </p:sp>
      <p:sp>
        <p:nvSpPr>
          <p:cNvPr id="399495568" name="Google Shape;127;p14"/>
          <p:cNvSpPr txBox="1"/>
          <p:nvPr/>
        </p:nvSpPr>
        <p:spPr bwMode="auto">
          <a:xfrm>
            <a:off x="6805612" y="4384178"/>
            <a:ext cx="471963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Project Goal</a:t>
            </a:r>
            <a:endParaRPr/>
          </a:p>
        </p:txBody>
      </p:sp>
      <p:sp>
        <p:nvSpPr>
          <p:cNvPr id="486635776" name="Google Shape;128;p14"/>
          <p:cNvSpPr txBox="1"/>
          <p:nvPr/>
        </p:nvSpPr>
        <p:spPr bwMode="auto">
          <a:xfrm>
            <a:off x="6805612" y="4555628"/>
            <a:ext cx="4719637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</a:rPr>
              <a:t>Move from simply detecting suspicious activity to understanding the threat intelligence associated with the indicators involved.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0609566" name="Google Shape;133;p15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874477" name="Google Shape;134;p15"/>
          <p:cNvSpPr/>
          <p:nvPr/>
        </p:nvSpPr>
        <p:spPr bwMode="auto">
          <a:xfrm>
            <a:off x="523875" y="1028700"/>
            <a:ext cx="11144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69786785" name="Google Shape;135;p15"/>
          <p:cNvSpPr/>
          <p:nvPr/>
        </p:nvSpPr>
        <p:spPr bwMode="auto">
          <a:xfrm>
            <a:off x="10715625" y="5334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0A2A3B"/>
          </a:solidFill>
          <a:ln w="9525" cap="flat" cmpd="sng">
            <a:solidFill>
              <a:srgbClr val="19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90412331" name="Google Shape;136;p15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23875" y="533400"/>
            <a:ext cx="24288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413553" name="Google Shape;137;p15"/>
          <p:cNvSpPr txBox="1"/>
          <p:nvPr/>
        </p:nvSpPr>
        <p:spPr bwMode="auto">
          <a:xfrm>
            <a:off x="881062" y="428625"/>
            <a:ext cx="1131093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Existing SOC Environment</a:t>
            </a:r>
            <a:endParaRPr/>
          </a:p>
        </p:txBody>
      </p:sp>
      <p:sp>
        <p:nvSpPr>
          <p:cNvPr id="2071089165" name="Google Shape;138;p15"/>
          <p:cNvSpPr txBox="1"/>
          <p:nvPr/>
        </p:nvSpPr>
        <p:spPr bwMode="auto">
          <a:xfrm>
            <a:off x="10810875" y="5715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LAB BASELINE</a:t>
            </a:r>
            <a:endParaRPr/>
          </a:p>
        </p:txBody>
      </p:sp>
      <p:sp>
        <p:nvSpPr>
          <p:cNvPr id="421318959" name="Google Shape;139;p15"/>
          <p:cNvSpPr/>
          <p:nvPr/>
        </p:nvSpPr>
        <p:spPr bwMode="auto">
          <a:xfrm>
            <a:off x="523875" y="3862387"/>
            <a:ext cx="11144250" cy="1419225"/>
          </a:xfrm>
          <a:prstGeom prst="roundRect">
            <a:avLst>
              <a:gd name="adj" fmla="val 6711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2623463" name="Google Shape;140;p15"/>
          <p:cNvSpPr/>
          <p:nvPr/>
        </p:nvSpPr>
        <p:spPr bwMode="auto">
          <a:xfrm>
            <a:off x="523875" y="5453062"/>
            <a:ext cx="11144250" cy="628650"/>
          </a:xfrm>
          <a:prstGeom prst="roundRect">
            <a:avLst>
              <a:gd name="adj" fmla="val 15151"/>
            </a:avLst>
          </a:prstGeom>
          <a:solidFill>
            <a:srgbClr val="0E2238"/>
          </a:solidFill>
          <a:ln w="9525" cap="flat" cmpd="sng">
            <a:solidFill>
              <a:srgbClr val="0A4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4190761" name="Google Shape;141;p15"/>
          <p:cNvSpPr/>
          <p:nvPr/>
        </p:nvSpPr>
        <p:spPr bwMode="auto">
          <a:xfrm>
            <a:off x="523875" y="1624012"/>
            <a:ext cx="3587650" cy="2047875"/>
          </a:xfrm>
          <a:prstGeom prst="roundRect">
            <a:avLst>
              <a:gd name="adj" fmla="val 4651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2911030" name="Google Shape;142;p15"/>
          <p:cNvSpPr/>
          <p:nvPr/>
        </p:nvSpPr>
        <p:spPr bwMode="auto">
          <a:xfrm>
            <a:off x="4302025" y="1624012"/>
            <a:ext cx="3587799" cy="2047875"/>
          </a:xfrm>
          <a:prstGeom prst="roundRect">
            <a:avLst>
              <a:gd name="adj" fmla="val 4651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8398930" name="Google Shape;143;p15"/>
          <p:cNvSpPr/>
          <p:nvPr/>
        </p:nvSpPr>
        <p:spPr bwMode="auto">
          <a:xfrm>
            <a:off x="8080325" y="1624012"/>
            <a:ext cx="3587650" cy="2047875"/>
          </a:xfrm>
          <a:prstGeom prst="roundRect">
            <a:avLst>
              <a:gd name="adj" fmla="val 4651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15979187" name="Google Shape;144;p15"/>
          <p:cNvSpPr/>
          <p:nvPr/>
        </p:nvSpPr>
        <p:spPr bwMode="auto">
          <a:xfrm>
            <a:off x="742950" y="4433887"/>
            <a:ext cx="2152650" cy="276225"/>
          </a:xfrm>
          <a:prstGeom prst="roundRect">
            <a:avLst>
              <a:gd name="adj" fmla="val 50000"/>
            </a:avLst>
          </a:prstGeom>
          <a:solidFill>
            <a:srgbClr val="192335"/>
          </a:solidFill>
          <a:ln w="9525" cap="flat" cmpd="sng">
            <a:solidFill>
              <a:srgbClr val="2C3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9477042" name="Google Shape;145;p15"/>
          <p:cNvSpPr/>
          <p:nvPr/>
        </p:nvSpPr>
        <p:spPr bwMode="auto">
          <a:xfrm>
            <a:off x="2971800" y="4433887"/>
            <a:ext cx="2381250" cy="276225"/>
          </a:xfrm>
          <a:prstGeom prst="roundRect">
            <a:avLst>
              <a:gd name="adj" fmla="val 50000"/>
            </a:avLst>
          </a:prstGeom>
          <a:solidFill>
            <a:srgbClr val="192335"/>
          </a:solidFill>
          <a:ln w="9525" cap="flat" cmpd="sng">
            <a:solidFill>
              <a:srgbClr val="2C3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1823877" name="Google Shape;146;p15"/>
          <p:cNvSpPr/>
          <p:nvPr/>
        </p:nvSpPr>
        <p:spPr bwMode="auto">
          <a:xfrm>
            <a:off x="5429250" y="4433887"/>
            <a:ext cx="1466849" cy="276225"/>
          </a:xfrm>
          <a:prstGeom prst="roundRect">
            <a:avLst>
              <a:gd name="adj" fmla="val 50000"/>
            </a:avLst>
          </a:prstGeom>
          <a:solidFill>
            <a:srgbClr val="192335"/>
          </a:solidFill>
          <a:ln w="9525" cap="flat" cmpd="sng">
            <a:solidFill>
              <a:srgbClr val="2C3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704499" name="Google Shape;147;p15"/>
          <p:cNvSpPr/>
          <p:nvPr/>
        </p:nvSpPr>
        <p:spPr bwMode="auto">
          <a:xfrm>
            <a:off x="6972300" y="4433887"/>
            <a:ext cx="2000250" cy="276225"/>
          </a:xfrm>
          <a:prstGeom prst="roundRect">
            <a:avLst>
              <a:gd name="adj" fmla="val 50000"/>
            </a:avLst>
          </a:prstGeom>
          <a:solidFill>
            <a:srgbClr val="192335"/>
          </a:solidFill>
          <a:ln w="9525" cap="flat" cmpd="sng">
            <a:solidFill>
              <a:srgbClr val="2C3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5662783" name="Google Shape;148;p15"/>
          <p:cNvSpPr/>
          <p:nvPr/>
        </p:nvSpPr>
        <p:spPr bwMode="auto">
          <a:xfrm>
            <a:off x="9048750" y="4433887"/>
            <a:ext cx="2305050" cy="276225"/>
          </a:xfrm>
          <a:prstGeom prst="roundRect">
            <a:avLst>
              <a:gd name="adj" fmla="val 50000"/>
            </a:avLst>
          </a:prstGeom>
          <a:solidFill>
            <a:srgbClr val="192335"/>
          </a:solidFill>
          <a:ln w="9525" cap="flat" cmpd="sng">
            <a:solidFill>
              <a:srgbClr val="2C3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572101" name="Google Shape;149;p15"/>
          <p:cNvSpPr/>
          <p:nvPr/>
        </p:nvSpPr>
        <p:spPr bwMode="auto">
          <a:xfrm>
            <a:off x="742950" y="4786312"/>
            <a:ext cx="2305050" cy="276225"/>
          </a:xfrm>
          <a:prstGeom prst="roundRect">
            <a:avLst>
              <a:gd name="adj" fmla="val 50000"/>
            </a:avLst>
          </a:prstGeom>
          <a:solidFill>
            <a:srgbClr val="192335"/>
          </a:solidFill>
          <a:ln w="9525" cap="flat" cmpd="sng">
            <a:solidFill>
              <a:srgbClr val="2C38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02751391" name="Google Shape;150;p15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762000" y="56340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655984" name="Google Shape;151;p15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742950" y="41243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443611" name="Google Shape;152;p15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742950" y="188595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9755041" name="Google Shape;153;p15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4521100" y="1885950"/>
            <a:ext cx="219074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868937" name="Google Shape;154;p15" descr="image.png"/>
          <p:cNvPicPr/>
          <p:nvPr/>
        </p:nvPicPr>
        <p:blipFill rotWithShape="1">
          <a:blip r:embed="rId9">
            <a:alphaModFix/>
          </a:blip>
          <a:srcRect l="0" t="0" r="0" b="0"/>
          <a:stretch/>
        </p:blipFill>
        <p:spPr bwMode="auto">
          <a:xfrm>
            <a:off x="8299400" y="188595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5796637" name="Google Shape;155;p15"/>
          <p:cNvSpPr txBox="1"/>
          <p:nvPr/>
        </p:nvSpPr>
        <p:spPr bwMode="auto">
          <a:xfrm>
            <a:off x="990600" y="4081462"/>
            <a:ext cx="10553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Existing Detection Rules</a:t>
            </a:r>
            <a:endParaRPr/>
          </a:p>
        </p:txBody>
      </p:sp>
      <p:sp>
        <p:nvSpPr>
          <p:cNvPr id="1600925038" name="Google Shape;156;p15"/>
          <p:cNvSpPr txBox="1"/>
          <p:nvPr/>
        </p:nvSpPr>
        <p:spPr bwMode="auto">
          <a:xfrm>
            <a:off x="1181099" y="5660231"/>
            <a:ext cx="10072687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</a:rPr>
              <a:t>Key Point:</a:t>
            </a:r>
            <a:r>
              <a:rPr lang="en-US" sz="1150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</a:rPr>
              <a:t> The existing environment provided the telemetry and detection layer required for the OpenCTI integration.</a:t>
            </a:r>
            <a:endParaRPr/>
          </a:p>
        </p:txBody>
      </p:sp>
      <p:sp>
        <p:nvSpPr>
          <p:cNvPr id="126839171" name="Google Shape;157;p15"/>
          <p:cNvSpPr txBox="1"/>
          <p:nvPr/>
        </p:nvSpPr>
        <p:spPr bwMode="auto">
          <a:xfrm>
            <a:off x="1028700" y="1843087"/>
            <a:ext cx="295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Security Monitoring</a:t>
            </a:r>
            <a:endParaRPr/>
          </a:p>
        </p:txBody>
      </p:sp>
      <p:sp>
        <p:nvSpPr>
          <p:cNvPr id="620797968" name="Google Shape;158;p15"/>
          <p:cNvSpPr txBox="1"/>
          <p:nvPr/>
        </p:nvSpPr>
        <p:spPr bwMode="auto">
          <a:xfrm>
            <a:off x="4835424" y="1843087"/>
            <a:ext cx="293057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Endpoints</a:t>
            </a:r>
            <a:endParaRPr/>
          </a:p>
        </p:txBody>
      </p:sp>
      <p:sp>
        <p:nvSpPr>
          <p:cNvPr id="417055908" name="Google Shape;159;p15"/>
          <p:cNvSpPr txBox="1"/>
          <p:nvPr/>
        </p:nvSpPr>
        <p:spPr bwMode="auto">
          <a:xfrm>
            <a:off x="8547050" y="1843087"/>
            <a:ext cx="2997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Network Security</a:t>
            </a:r>
            <a:endParaRPr/>
          </a:p>
        </p:txBody>
      </p:sp>
      <p:sp>
        <p:nvSpPr>
          <p:cNvPr id="1437402055" name="Google Shape;160;p15"/>
          <p:cNvSpPr txBox="1"/>
          <p:nvPr/>
        </p:nvSpPr>
        <p:spPr bwMode="auto">
          <a:xfrm>
            <a:off x="857250" y="4481512"/>
            <a:ext cx="2019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SSH brute-force detection</a:t>
            </a:r>
            <a:endParaRPr/>
          </a:p>
        </p:txBody>
      </p:sp>
      <p:sp>
        <p:nvSpPr>
          <p:cNvPr id="1507377733" name="Google Shape;161;p15"/>
          <p:cNvSpPr txBox="1"/>
          <p:nvPr/>
        </p:nvSpPr>
        <p:spPr bwMode="auto">
          <a:xfrm>
            <a:off x="3086100" y="4481512"/>
            <a:ext cx="22479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Suspicious process execution</a:t>
            </a:r>
            <a:endParaRPr/>
          </a:p>
        </p:txBody>
      </p:sp>
      <p:sp>
        <p:nvSpPr>
          <p:cNvPr id="891816322" name="Google Shape;162;p15"/>
          <p:cNvSpPr txBox="1"/>
          <p:nvPr/>
        </p:nvSpPr>
        <p:spPr bwMode="auto">
          <a:xfrm>
            <a:off x="5543550" y="4481512"/>
            <a:ext cx="1333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Cron persistence</a:t>
            </a:r>
            <a:endParaRPr/>
          </a:p>
        </p:txBody>
      </p:sp>
      <p:sp>
        <p:nvSpPr>
          <p:cNvPr id="1840457921" name="Google Shape;163;p15"/>
          <p:cNvSpPr txBox="1"/>
          <p:nvPr/>
        </p:nvSpPr>
        <p:spPr bwMode="auto">
          <a:xfrm>
            <a:off x="7086600" y="4481512"/>
            <a:ext cx="18669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System service activity</a:t>
            </a:r>
            <a:endParaRPr/>
          </a:p>
        </p:txBody>
      </p:sp>
      <p:sp>
        <p:nvSpPr>
          <p:cNvPr id="1498826372" name="Google Shape;164;p15"/>
          <p:cNvSpPr txBox="1"/>
          <p:nvPr/>
        </p:nvSpPr>
        <p:spPr bwMode="auto">
          <a:xfrm>
            <a:off x="9163050" y="4481512"/>
            <a:ext cx="21717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Credential-related activity</a:t>
            </a:r>
            <a:endParaRPr/>
          </a:p>
        </p:txBody>
      </p:sp>
      <p:sp>
        <p:nvSpPr>
          <p:cNvPr id="791290020" name="Google Shape;165;p15"/>
          <p:cNvSpPr txBox="1"/>
          <p:nvPr/>
        </p:nvSpPr>
        <p:spPr bwMode="auto">
          <a:xfrm>
            <a:off x="857250" y="4833937"/>
            <a:ext cx="21717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5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Script interpreter activity</a:t>
            </a:r>
            <a:endParaRPr/>
          </a:p>
        </p:txBody>
      </p:sp>
      <p:sp>
        <p:nvSpPr>
          <p:cNvPr id="916310691" name="Google Shape;166;p15"/>
          <p:cNvSpPr txBox="1"/>
          <p:nvPr/>
        </p:nvSpPr>
        <p:spPr bwMode="auto">
          <a:xfrm>
            <a:off x="952500" y="2214562"/>
            <a:ext cx="37273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Wazuh SIEM</a:t>
            </a:r>
            <a:endParaRPr/>
          </a:p>
        </p:txBody>
      </p:sp>
      <p:sp>
        <p:nvSpPr>
          <p:cNvPr id="767905871" name="Google Shape;167;p15"/>
          <p:cNvSpPr txBox="1"/>
          <p:nvPr/>
        </p:nvSpPr>
        <p:spPr bwMode="auto">
          <a:xfrm>
            <a:off x="952500" y="2524125"/>
            <a:ext cx="37273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Wazuh Manager</a:t>
            </a:r>
            <a:endParaRPr/>
          </a:p>
        </p:txBody>
      </p:sp>
      <p:sp>
        <p:nvSpPr>
          <p:cNvPr id="1568956552" name="Google Shape;168;p15"/>
          <p:cNvSpPr txBox="1"/>
          <p:nvPr/>
        </p:nvSpPr>
        <p:spPr bwMode="auto">
          <a:xfrm>
            <a:off x="952500" y="2833687"/>
            <a:ext cx="37273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Wazuh Indexer</a:t>
            </a:r>
            <a:endParaRPr/>
          </a:p>
        </p:txBody>
      </p:sp>
      <p:sp>
        <p:nvSpPr>
          <p:cNvPr id="446774788" name="Google Shape;169;p15"/>
          <p:cNvSpPr txBox="1"/>
          <p:nvPr/>
        </p:nvSpPr>
        <p:spPr bwMode="auto">
          <a:xfrm>
            <a:off x="952500" y="3143250"/>
            <a:ext cx="37273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Wazuh Dashboard</a:t>
            </a:r>
            <a:endParaRPr/>
          </a:p>
        </p:txBody>
      </p:sp>
      <p:sp>
        <p:nvSpPr>
          <p:cNvPr id="499369535" name="Google Shape;170;p15"/>
          <p:cNvSpPr txBox="1"/>
          <p:nvPr/>
        </p:nvSpPr>
        <p:spPr bwMode="auto">
          <a:xfrm>
            <a:off x="4730650" y="2214562"/>
            <a:ext cx="372751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Windows VM with Sysmon</a:t>
            </a:r>
            <a:endParaRPr/>
          </a:p>
        </p:txBody>
      </p:sp>
      <p:sp>
        <p:nvSpPr>
          <p:cNvPr id="218545035" name="Google Shape;171;p15"/>
          <p:cNvSpPr txBox="1"/>
          <p:nvPr/>
        </p:nvSpPr>
        <p:spPr bwMode="auto">
          <a:xfrm>
            <a:off x="4730649" y="2524124"/>
            <a:ext cx="3733272" cy="263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Ubuntu VM</a:t>
            </a:r>
            <a:r>
              <a:rPr lang="en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 with Suricata</a:t>
            </a:r>
            <a:endParaRPr lang="en" sz="1150" b="0" i="0" u="none" strike="noStrike" cap="none">
              <a:solidFill>
                <a:srgbClr val="CBD5E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64747813" name="Google Shape;172;p15"/>
          <p:cNvSpPr txBox="1"/>
          <p:nvPr/>
        </p:nvSpPr>
        <p:spPr bwMode="auto">
          <a:xfrm>
            <a:off x="4730649" y="2833686"/>
            <a:ext cx="3732552" cy="320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3971464" name="Google Shape;173;p15"/>
          <p:cNvSpPr txBox="1"/>
          <p:nvPr/>
        </p:nvSpPr>
        <p:spPr bwMode="auto">
          <a:xfrm>
            <a:off x="8508950" y="2214562"/>
            <a:ext cx="3683049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pfSense Firewall</a:t>
            </a:r>
            <a:endParaRPr/>
          </a:p>
        </p:txBody>
      </p:sp>
      <p:sp>
        <p:nvSpPr>
          <p:cNvPr id="2014383760" name="Google Shape;174;p15"/>
          <p:cNvSpPr txBox="1"/>
          <p:nvPr/>
        </p:nvSpPr>
        <p:spPr bwMode="auto">
          <a:xfrm>
            <a:off x="8508949" y="2524124"/>
            <a:ext cx="3683408" cy="320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22616907" name="Google Shape;175;p15"/>
          <p:cNvSpPr txBox="1"/>
          <p:nvPr/>
        </p:nvSpPr>
        <p:spPr bwMode="auto">
          <a:xfrm>
            <a:off x="742950" y="2214562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495421721" name="Google Shape;176;p15"/>
          <p:cNvSpPr txBox="1"/>
          <p:nvPr/>
        </p:nvSpPr>
        <p:spPr bwMode="auto">
          <a:xfrm>
            <a:off x="742950" y="2524125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725525903" name="Google Shape;177;p15"/>
          <p:cNvSpPr txBox="1"/>
          <p:nvPr/>
        </p:nvSpPr>
        <p:spPr bwMode="auto">
          <a:xfrm>
            <a:off x="742950" y="2833687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784443315" name="Google Shape;178;p15"/>
          <p:cNvSpPr txBox="1"/>
          <p:nvPr/>
        </p:nvSpPr>
        <p:spPr bwMode="auto">
          <a:xfrm>
            <a:off x="742950" y="3143250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42793827" name="Google Shape;179;p15"/>
          <p:cNvSpPr txBox="1"/>
          <p:nvPr/>
        </p:nvSpPr>
        <p:spPr bwMode="auto">
          <a:xfrm>
            <a:off x="4521100" y="2214562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938918385" name="Google Shape;180;p15"/>
          <p:cNvSpPr txBox="1"/>
          <p:nvPr/>
        </p:nvSpPr>
        <p:spPr bwMode="auto">
          <a:xfrm>
            <a:off x="4521100" y="2524125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886647802" name="Google Shape;182;p15"/>
          <p:cNvSpPr txBox="1"/>
          <p:nvPr/>
        </p:nvSpPr>
        <p:spPr bwMode="auto">
          <a:xfrm>
            <a:off x="8299400" y="2214562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870746" name="Google Shape;188;p16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4746290" name="Google Shape;189;p16"/>
          <p:cNvSpPr/>
          <p:nvPr/>
        </p:nvSpPr>
        <p:spPr bwMode="auto">
          <a:xfrm>
            <a:off x="523875" y="1028700"/>
            <a:ext cx="11144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897912" name="Google Shape;190;p16"/>
          <p:cNvSpPr/>
          <p:nvPr/>
        </p:nvSpPr>
        <p:spPr bwMode="auto">
          <a:xfrm>
            <a:off x="10220325" y="533400"/>
            <a:ext cx="1447800" cy="247650"/>
          </a:xfrm>
          <a:prstGeom prst="roundRect">
            <a:avLst>
              <a:gd name="adj" fmla="val 50000"/>
            </a:avLst>
          </a:prstGeom>
          <a:solidFill>
            <a:srgbClr val="0A2A3B"/>
          </a:solidFill>
          <a:ln w="9525" cap="flat" cmpd="sng">
            <a:solidFill>
              <a:srgbClr val="19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20281884" name="Google Shape;191;p16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23875" y="533400"/>
            <a:ext cx="27146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7271597" name="Google Shape;192;p16"/>
          <p:cNvSpPr txBox="1"/>
          <p:nvPr/>
        </p:nvSpPr>
        <p:spPr bwMode="auto">
          <a:xfrm>
            <a:off x="909637" y="428625"/>
            <a:ext cx="1128236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Completed Lab Architecture</a:t>
            </a:r>
            <a:endParaRPr/>
          </a:p>
        </p:txBody>
      </p:sp>
      <p:sp>
        <p:nvSpPr>
          <p:cNvPr id="856986029" name="Google Shape;193;p16"/>
          <p:cNvSpPr txBox="1"/>
          <p:nvPr/>
        </p:nvSpPr>
        <p:spPr bwMode="auto">
          <a:xfrm>
            <a:off x="10315575" y="571500"/>
            <a:ext cx="13525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PIPELINE &amp; DATA FLOW</a:t>
            </a:r>
            <a:endParaRPr/>
          </a:p>
        </p:txBody>
      </p:sp>
      <p:sp>
        <p:nvSpPr>
          <p:cNvPr id="1908383843" name="Google Shape;194;p16"/>
          <p:cNvSpPr/>
          <p:nvPr/>
        </p:nvSpPr>
        <p:spPr bwMode="auto">
          <a:xfrm>
            <a:off x="5955357" y="1276350"/>
            <a:ext cx="5712767" cy="5153024"/>
          </a:xfrm>
          <a:prstGeom prst="roundRect">
            <a:avLst>
              <a:gd name="adj" fmla="val 1848"/>
            </a:avLst>
          </a:prstGeom>
          <a:solidFill>
            <a:srgbClr val="0D1425"/>
          </a:solidFill>
          <a:ln w="19050" cap="flat" cmpd="sng">
            <a:solidFill>
              <a:srgbClr val="095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3895651" name="Google Shape;195;p16"/>
          <p:cNvSpPr/>
          <p:nvPr/>
        </p:nvSpPr>
        <p:spPr bwMode="auto">
          <a:xfrm>
            <a:off x="523875" y="1276350"/>
            <a:ext cx="5193357" cy="571500"/>
          </a:xfrm>
          <a:prstGeom prst="roundRect">
            <a:avLst>
              <a:gd name="adj" fmla="val 13333"/>
            </a:avLst>
          </a:prstGeom>
          <a:solidFill>
            <a:srgbClr val="0E1527"/>
          </a:solidFill>
          <a:ln w="9525" cap="flat" cmpd="sng">
            <a:solidFill>
              <a:srgbClr val="232E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81679647" name="Google Shape;196;p16"/>
          <p:cNvSpPr/>
          <p:nvPr/>
        </p:nvSpPr>
        <p:spPr bwMode="auto">
          <a:xfrm>
            <a:off x="523875" y="1962150"/>
            <a:ext cx="5193357" cy="571500"/>
          </a:xfrm>
          <a:prstGeom prst="roundRect">
            <a:avLst>
              <a:gd name="adj" fmla="val 13333"/>
            </a:avLst>
          </a:prstGeom>
          <a:solidFill>
            <a:srgbClr val="0E1527"/>
          </a:solidFill>
          <a:ln w="9525" cap="flat" cmpd="sng">
            <a:solidFill>
              <a:srgbClr val="232E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2816907" name="Google Shape;197;p16"/>
          <p:cNvSpPr/>
          <p:nvPr/>
        </p:nvSpPr>
        <p:spPr bwMode="auto">
          <a:xfrm>
            <a:off x="523875" y="2647949"/>
            <a:ext cx="5193357" cy="571500"/>
          </a:xfrm>
          <a:prstGeom prst="roundRect">
            <a:avLst>
              <a:gd name="adj" fmla="val 13333"/>
            </a:avLst>
          </a:prstGeom>
          <a:solidFill>
            <a:srgbClr val="0E1527"/>
          </a:solidFill>
          <a:ln w="9525" cap="flat" cmpd="sng">
            <a:solidFill>
              <a:srgbClr val="232E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1379681" name="Google Shape;198;p16"/>
          <p:cNvSpPr/>
          <p:nvPr/>
        </p:nvSpPr>
        <p:spPr bwMode="auto">
          <a:xfrm>
            <a:off x="523875" y="3333750"/>
            <a:ext cx="5193357" cy="571500"/>
          </a:xfrm>
          <a:prstGeom prst="roundRect">
            <a:avLst>
              <a:gd name="adj" fmla="val 13333"/>
            </a:avLst>
          </a:prstGeom>
          <a:solidFill>
            <a:srgbClr val="0E1527"/>
          </a:solidFill>
          <a:ln w="9525" cap="flat" cmpd="sng">
            <a:solidFill>
              <a:srgbClr val="232E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5317732" name="Google Shape;199;p16"/>
          <p:cNvSpPr/>
          <p:nvPr/>
        </p:nvSpPr>
        <p:spPr bwMode="auto">
          <a:xfrm>
            <a:off x="523875" y="4114800"/>
            <a:ext cx="5193357" cy="704850"/>
          </a:xfrm>
          <a:prstGeom prst="roundRect">
            <a:avLst>
              <a:gd name="adj" fmla="val 10810"/>
            </a:avLst>
          </a:prstGeom>
          <a:solidFill>
            <a:srgbClr val="0B2232"/>
          </a:solidFill>
          <a:ln w="9525" cap="flat" cmpd="sng">
            <a:solidFill>
              <a:srgbClr val="095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2616440" name="Google Shape;200;p16"/>
          <p:cNvSpPr/>
          <p:nvPr/>
        </p:nvSpPr>
        <p:spPr bwMode="auto">
          <a:xfrm>
            <a:off x="685800" y="14382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242033" name="Google Shape;201;p16"/>
          <p:cNvSpPr/>
          <p:nvPr/>
        </p:nvSpPr>
        <p:spPr bwMode="auto">
          <a:xfrm>
            <a:off x="685800" y="21240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7438921" name="Google Shape;202;p16"/>
          <p:cNvSpPr/>
          <p:nvPr/>
        </p:nvSpPr>
        <p:spPr bwMode="auto">
          <a:xfrm>
            <a:off x="685800" y="28098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7606712" name="Google Shape;203;p16"/>
          <p:cNvSpPr/>
          <p:nvPr/>
        </p:nvSpPr>
        <p:spPr bwMode="auto">
          <a:xfrm>
            <a:off x="685800" y="34956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4058019" name="Google Shape;204;p16"/>
          <p:cNvSpPr txBox="1"/>
          <p:nvPr/>
        </p:nvSpPr>
        <p:spPr bwMode="auto">
          <a:xfrm>
            <a:off x="-10994" y="4229100"/>
            <a:ext cx="6263096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Core Data Flow: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</a:br>
            <a:r>
              <a:rPr lang="en-US" sz="9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 Endpoint Activity → Wazuh → OpenCTI IOC Lookup → Enriched Alert → Analyst</a:t>
            </a:r>
            <a:endParaRPr/>
          </a:p>
        </p:txBody>
      </p:sp>
      <p:sp>
        <p:nvSpPr>
          <p:cNvPr id="1266784740" name="Google Shape;205;p16"/>
          <p:cNvSpPr txBox="1"/>
          <p:nvPr/>
        </p:nvSpPr>
        <p:spPr bwMode="auto">
          <a:xfrm>
            <a:off x="542925" y="1438275"/>
            <a:ext cx="533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1" i="0" u="none" strike="noStrike" cap="none">
                <a:solidFill>
                  <a:srgbClr val="0B1120"/>
                </a:solidFill>
                <a:latin typeface="Inter"/>
                <a:ea typeface="Inter"/>
                <a:cs typeface="Inter"/>
              </a:rPr>
              <a:t>1</a:t>
            </a:r>
            <a:endParaRPr/>
          </a:p>
        </p:txBody>
      </p:sp>
      <p:sp>
        <p:nvSpPr>
          <p:cNvPr id="13974625" name="Google Shape;206;p16"/>
          <p:cNvSpPr txBox="1"/>
          <p:nvPr/>
        </p:nvSpPr>
        <p:spPr bwMode="auto">
          <a:xfrm>
            <a:off x="542925" y="2124075"/>
            <a:ext cx="533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1" i="0" u="none" strike="noStrike" cap="none">
                <a:solidFill>
                  <a:srgbClr val="0B1120"/>
                </a:solidFill>
                <a:latin typeface="Inter"/>
                <a:ea typeface="Inter"/>
                <a:cs typeface="Inter"/>
              </a:rPr>
              <a:t>2</a:t>
            </a:r>
            <a:endParaRPr/>
          </a:p>
        </p:txBody>
      </p:sp>
      <p:sp>
        <p:nvSpPr>
          <p:cNvPr id="826809713" name="Google Shape;207;p16"/>
          <p:cNvSpPr txBox="1"/>
          <p:nvPr/>
        </p:nvSpPr>
        <p:spPr bwMode="auto">
          <a:xfrm>
            <a:off x="542925" y="2809875"/>
            <a:ext cx="533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1" i="0" u="none" strike="noStrike" cap="none">
                <a:solidFill>
                  <a:srgbClr val="0B1120"/>
                </a:solidFill>
                <a:latin typeface="Inter"/>
                <a:ea typeface="Inter"/>
                <a:cs typeface="Inter"/>
              </a:rPr>
              <a:t>3</a:t>
            </a:r>
            <a:endParaRPr/>
          </a:p>
        </p:txBody>
      </p:sp>
      <p:sp>
        <p:nvSpPr>
          <p:cNvPr id="137113174" name="Google Shape;208;p16"/>
          <p:cNvSpPr txBox="1"/>
          <p:nvPr/>
        </p:nvSpPr>
        <p:spPr bwMode="auto">
          <a:xfrm>
            <a:off x="542925" y="3495675"/>
            <a:ext cx="533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1" i="0" u="none" strike="noStrike" cap="none">
                <a:solidFill>
                  <a:srgbClr val="0B1120"/>
                </a:solidFill>
                <a:latin typeface="Inter"/>
                <a:ea typeface="Inter"/>
                <a:cs typeface="Inter"/>
              </a:rPr>
              <a:t>4</a:t>
            </a:r>
            <a:endParaRPr/>
          </a:p>
        </p:txBody>
      </p:sp>
      <p:sp>
        <p:nvSpPr>
          <p:cNvPr id="1266076003" name="Google Shape;209;p16"/>
          <p:cNvSpPr txBox="1"/>
          <p:nvPr/>
        </p:nvSpPr>
        <p:spPr bwMode="auto">
          <a:xfrm>
            <a:off x="1076325" y="1400175"/>
            <a:ext cx="41005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Threat Intelligence Feeds</a:t>
            </a:r>
            <a:endParaRPr/>
          </a:p>
        </p:txBody>
      </p:sp>
      <p:sp>
        <p:nvSpPr>
          <p:cNvPr id="693293499" name="Google Shape;210;p16"/>
          <p:cNvSpPr txBox="1"/>
          <p:nvPr/>
        </p:nvSpPr>
        <p:spPr bwMode="auto">
          <a:xfrm>
            <a:off x="1076325" y="1581150"/>
            <a:ext cx="3905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URLhaus • MalwareBazaar • ThreatFox • MITRE ATT&amp;CK</a:t>
            </a:r>
            <a:endParaRPr/>
          </a:p>
        </p:txBody>
      </p:sp>
      <p:sp>
        <p:nvSpPr>
          <p:cNvPr id="1402985061" name="Google Shape;211;p16"/>
          <p:cNvSpPr txBox="1"/>
          <p:nvPr/>
        </p:nvSpPr>
        <p:spPr bwMode="auto">
          <a:xfrm>
            <a:off x="1076325" y="2085975"/>
            <a:ext cx="350043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OpenCTI (Threat Intel Platform)</a:t>
            </a:r>
            <a:endParaRPr/>
          </a:p>
        </p:txBody>
      </p:sp>
      <p:sp>
        <p:nvSpPr>
          <p:cNvPr id="1736728263" name="Google Shape;212;p16"/>
          <p:cNvSpPr txBox="1"/>
          <p:nvPr/>
        </p:nvSpPr>
        <p:spPr bwMode="auto">
          <a:xfrm>
            <a:off x="1076325" y="2266950"/>
            <a:ext cx="3333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Correlates, structures, and manages IOCs &amp; TTPs</a:t>
            </a:r>
            <a:endParaRPr/>
          </a:p>
        </p:txBody>
      </p:sp>
      <p:sp>
        <p:nvSpPr>
          <p:cNvPr id="332586376" name="Google Shape;213;p16"/>
          <p:cNvSpPr txBox="1"/>
          <p:nvPr/>
        </p:nvSpPr>
        <p:spPr bwMode="auto">
          <a:xfrm>
            <a:off x="1076325" y="2771775"/>
            <a:ext cx="2275284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Wazuh SIEM</a:t>
            </a:r>
            <a:endParaRPr/>
          </a:p>
        </p:txBody>
      </p:sp>
      <p:sp>
        <p:nvSpPr>
          <p:cNvPr id="456677252" name="Google Shape;214;p16"/>
          <p:cNvSpPr txBox="1"/>
          <p:nvPr/>
        </p:nvSpPr>
        <p:spPr bwMode="auto">
          <a:xfrm>
            <a:off x="1076325" y="2952750"/>
            <a:ext cx="216693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Manager • Indexer • Dashboard</a:t>
            </a:r>
            <a:endParaRPr/>
          </a:p>
        </p:txBody>
      </p:sp>
      <p:sp>
        <p:nvSpPr>
          <p:cNvPr id="991784058" name="Google Shape;215;p16"/>
          <p:cNvSpPr txBox="1"/>
          <p:nvPr/>
        </p:nvSpPr>
        <p:spPr bwMode="auto">
          <a:xfrm>
            <a:off x="1076325" y="3457575"/>
            <a:ext cx="423802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Security Telemetry Inputs</a:t>
            </a:r>
            <a:endParaRPr/>
          </a:p>
        </p:txBody>
      </p:sp>
      <p:sp>
        <p:nvSpPr>
          <p:cNvPr id="2028432817" name="Google Shape;216;p16"/>
          <p:cNvSpPr txBox="1"/>
          <p:nvPr/>
        </p:nvSpPr>
        <p:spPr bwMode="auto">
          <a:xfrm>
            <a:off x="1076325" y="3638550"/>
            <a:ext cx="4036218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Windows + Sysmon • Ubuntu + Suricata • pfSense • Agents</a:t>
            </a:r>
            <a:endParaRPr/>
          </a:p>
        </p:txBody>
      </p:sp>
      <p:pic>
        <p:nvPicPr>
          <p:cNvPr id="2091177685" name="Google Shape;217;p16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5955350" y="1276350"/>
            <a:ext cx="5712775" cy="5153024"/>
          </a:xfrm>
          <a:prstGeom prst="rect">
            <a:avLst/>
          </a:prstGeom>
          <a:solidFill>
            <a:srgbClr val="0D1425"/>
          </a:solidFill>
          <a:ln w="19050" cap="flat" cmpd="sng">
            <a:solidFill>
              <a:srgbClr val="09536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9146395" name="Google Shape;222;p17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682235" name="Google Shape;223;p17"/>
          <p:cNvSpPr/>
          <p:nvPr/>
        </p:nvSpPr>
        <p:spPr bwMode="auto">
          <a:xfrm>
            <a:off x="523875" y="1028700"/>
            <a:ext cx="11144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40027416" name="Google Shape;224;p17"/>
          <p:cNvSpPr/>
          <p:nvPr/>
        </p:nvSpPr>
        <p:spPr bwMode="auto">
          <a:xfrm>
            <a:off x="10591799" y="533400"/>
            <a:ext cx="1076325" cy="247650"/>
          </a:xfrm>
          <a:prstGeom prst="roundRect">
            <a:avLst>
              <a:gd name="adj" fmla="val 50000"/>
            </a:avLst>
          </a:prstGeom>
          <a:solidFill>
            <a:srgbClr val="0A2A3B"/>
          </a:solidFill>
          <a:ln w="9525" cap="flat" cmpd="sng">
            <a:solidFill>
              <a:srgbClr val="19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45010779" name="Google Shape;225;p17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23875" y="533400"/>
            <a:ext cx="27146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5972322" name="Google Shape;226;p17"/>
          <p:cNvSpPr txBox="1"/>
          <p:nvPr/>
        </p:nvSpPr>
        <p:spPr bwMode="auto">
          <a:xfrm>
            <a:off x="909637" y="428625"/>
            <a:ext cx="1128236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Phase 1 — Deploying OpenCTI</a:t>
            </a:r>
            <a:endParaRPr/>
          </a:p>
        </p:txBody>
      </p:sp>
      <p:sp>
        <p:nvSpPr>
          <p:cNvPr id="122737559" name="Google Shape;227;p17"/>
          <p:cNvSpPr txBox="1"/>
          <p:nvPr/>
        </p:nvSpPr>
        <p:spPr bwMode="auto">
          <a:xfrm>
            <a:off x="10687050" y="571500"/>
            <a:ext cx="9810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PLATFORM SETUP</a:t>
            </a:r>
            <a:endParaRPr/>
          </a:p>
        </p:txBody>
      </p:sp>
      <p:sp>
        <p:nvSpPr>
          <p:cNvPr id="1648006957" name="Google Shape;228;p17"/>
          <p:cNvSpPr/>
          <p:nvPr/>
        </p:nvSpPr>
        <p:spPr bwMode="auto">
          <a:xfrm>
            <a:off x="523875" y="2507456"/>
            <a:ext cx="3587650" cy="2690812"/>
          </a:xfrm>
          <a:prstGeom prst="roundRect">
            <a:avLst>
              <a:gd name="adj" fmla="val 3539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9345489" name="Google Shape;229;p17"/>
          <p:cNvSpPr/>
          <p:nvPr/>
        </p:nvSpPr>
        <p:spPr bwMode="auto">
          <a:xfrm>
            <a:off x="4302025" y="2507456"/>
            <a:ext cx="3587799" cy="2690812"/>
          </a:xfrm>
          <a:prstGeom prst="roundRect">
            <a:avLst>
              <a:gd name="adj" fmla="val 3539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6852233" name="Google Shape;230;p17"/>
          <p:cNvSpPr/>
          <p:nvPr/>
        </p:nvSpPr>
        <p:spPr bwMode="auto">
          <a:xfrm>
            <a:off x="8080325" y="2507456"/>
            <a:ext cx="3587650" cy="2690812"/>
          </a:xfrm>
          <a:prstGeom prst="roundRect">
            <a:avLst>
              <a:gd name="adj" fmla="val 3539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6464574" name="Google Shape;231;p17"/>
          <p:cNvSpPr/>
          <p:nvPr/>
        </p:nvSpPr>
        <p:spPr bwMode="auto">
          <a:xfrm>
            <a:off x="952500" y="3698081"/>
            <a:ext cx="2939950" cy="261937"/>
          </a:xfrm>
          <a:prstGeom prst="roundRect">
            <a:avLst>
              <a:gd name="adj" fmla="val 14545"/>
            </a:avLst>
          </a:prstGeom>
          <a:solidFill>
            <a:srgbClr val="1B2537"/>
          </a:solidFill>
          <a:ln w="9525" cap="flat" cmpd="sng">
            <a:solidFill>
              <a:srgbClr val="3C1E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4162833" name="Google Shape;232;p17"/>
          <p:cNvSpPr/>
          <p:nvPr/>
        </p:nvSpPr>
        <p:spPr bwMode="auto">
          <a:xfrm>
            <a:off x="952500" y="3998118"/>
            <a:ext cx="2939950" cy="261937"/>
          </a:xfrm>
          <a:prstGeom prst="roundRect">
            <a:avLst>
              <a:gd name="adj" fmla="val 14545"/>
            </a:avLst>
          </a:prstGeom>
          <a:solidFill>
            <a:srgbClr val="1B2537"/>
          </a:solidFill>
          <a:ln w="9525" cap="flat" cmpd="sng">
            <a:solidFill>
              <a:srgbClr val="3C1E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5196132" name="Google Shape;233;p17"/>
          <p:cNvSpPr/>
          <p:nvPr/>
        </p:nvSpPr>
        <p:spPr bwMode="auto">
          <a:xfrm>
            <a:off x="952500" y="4298156"/>
            <a:ext cx="2939950" cy="261937"/>
          </a:xfrm>
          <a:prstGeom prst="roundRect">
            <a:avLst>
              <a:gd name="adj" fmla="val 14545"/>
            </a:avLst>
          </a:prstGeom>
          <a:solidFill>
            <a:srgbClr val="1B2537"/>
          </a:solidFill>
          <a:ln w="9525" cap="flat" cmpd="sng">
            <a:solidFill>
              <a:srgbClr val="3C1E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6289029" name="Google Shape;234;p17"/>
          <p:cNvSpPr/>
          <p:nvPr/>
        </p:nvSpPr>
        <p:spPr bwMode="auto">
          <a:xfrm>
            <a:off x="952500" y="4598193"/>
            <a:ext cx="2939950" cy="261937"/>
          </a:xfrm>
          <a:prstGeom prst="roundRect">
            <a:avLst>
              <a:gd name="adj" fmla="val 14545"/>
            </a:avLst>
          </a:prstGeom>
          <a:solidFill>
            <a:srgbClr val="1B2537"/>
          </a:solidFill>
          <a:ln w="9525" cap="flat" cmpd="sng">
            <a:solidFill>
              <a:srgbClr val="3C1E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01733224" name="Google Shape;235;p17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742950" y="2769393"/>
            <a:ext cx="219074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046712" name="Google Shape;236;p17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521100" y="276939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878827" name="Google Shape;237;p17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8299400" y="2769393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3806923" name="Google Shape;238;p17"/>
          <p:cNvSpPr txBox="1"/>
          <p:nvPr/>
        </p:nvSpPr>
        <p:spPr bwMode="auto">
          <a:xfrm>
            <a:off x="1057275" y="2726531"/>
            <a:ext cx="29304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Deployment</a:t>
            </a:r>
            <a:endParaRPr/>
          </a:p>
        </p:txBody>
      </p:sp>
      <p:sp>
        <p:nvSpPr>
          <p:cNvPr id="473696273" name="Google Shape;239;p17"/>
          <p:cNvSpPr txBox="1"/>
          <p:nvPr/>
        </p:nvSpPr>
        <p:spPr bwMode="auto">
          <a:xfrm>
            <a:off x="4787800" y="2726531"/>
            <a:ext cx="29781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Platform Config</a:t>
            </a:r>
            <a:endParaRPr/>
          </a:p>
        </p:txBody>
      </p:sp>
      <p:sp>
        <p:nvSpPr>
          <p:cNvPr id="1107250509" name="Google Shape;240;p17"/>
          <p:cNvSpPr txBox="1"/>
          <p:nvPr/>
        </p:nvSpPr>
        <p:spPr bwMode="auto">
          <a:xfrm>
            <a:off x="8547050" y="2726531"/>
            <a:ext cx="2997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MITRE ATT&amp;CK</a:t>
            </a:r>
            <a:endParaRPr/>
          </a:p>
        </p:txBody>
      </p:sp>
      <p:sp>
        <p:nvSpPr>
          <p:cNvPr id="1955192487" name="Google Shape;241;p17"/>
          <p:cNvSpPr txBox="1"/>
          <p:nvPr/>
        </p:nvSpPr>
        <p:spPr bwMode="auto">
          <a:xfrm>
            <a:off x="952500" y="3098005"/>
            <a:ext cx="37273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OpenCTI deployed using </a:t>
            </a:r>
            <a:r>
              <a:rPr lang="en-US" sz="11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Docker Compose</a:t>
            </a:r>
            <a:endParaRPr/>
          </a:p>
        </p:txBody>
      </p:sp>
      <p:sp>
        <p:nvSpPr>
          <p:cNvPr id="1775896963" name="Google Shape;242;p17"/>
          <p:cNvSpPr txBox="1"/>
          <p:nvPr/>
        </p:nvSpPr>
        <p:spPr bwMode="auto">
          <a:xfrm>
            <a:off x="952500" y="3698081"/>
            <a:ext cx="30351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62063916" name="Google Shape;243;p17"/>
          <p:cNvSpPr txBox="1"/>
          <p:nvPr/>
        </p:nvSpPr>
        <p:spPr bwMode="auto">
          <a:xfrm>
            <a:off x="4730650" y="3098005"/>
            <a:ext cx="372751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Analyst account created</a:t>
            </a:r>
            <a:endParaRPr/>
          </a:p>
        </p:txBody>
      </p:sp>
      <p:sp>
        <p:nvSpPr>
          <p:cNvPr id="2112078695" name="Google Shape;244;p17"/>
          <p:cNvSpPr txBox="1"/>
          <p:nvPr/>
        </p:nvSpPr>
        <p:spPr bwMode="auto">
          <a:xfrm>
            <a:off x="4730650" y="3407568"/>
            <a:ext cx="372751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OpenCTI data model explored</a:t>
            </a:r>
            <a:endParaRPr/>
          </a:p>
        </p:txBody>
      </p:sp>
      <p:sp>
        <p:nvSpPr>
          <p:cNvPr id="356818313" name="Google Shape;245;p17"/>
          <p:cNvSpPr txBox="1"/>
          <p:nvPr/>
        </p:nvSpPr>
        <p:spPr bwMode="auto">
          <a:xfrm>
            <a:off x="4730650" y="3717131"/>
            <a:ext cx="372751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Observables and Indicators reviewed</a:t>
            </a:r>
            <a:endParaRPr/>
          </a:p>
        </p:txBody>
      </p:sp>
      <p:sp>
        <p:nvSpPr>
          <p:cNvPr id="1713602425" name="Google Shape;246;p17"/>
          <p:cNvSpPr txBox="1"/>
          <p:nvPr/>
        </p:nvSpPr>
        <p:spPr bwMode="auto">
          <a:xfrm>
            <a:off x="4730650" y="4026693"/>
            <a:ext cx="3035349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Threat Actors, Campaigns, Malware, and Intrusion Sets explored</a:t>
            </a:r>
            <a:endParaRPr/>
          </a:p>
        </p:txBody>
      </p:sp>
      <p:sp>
        <p:nvSpPr>
          <p:cNvPr id="214577819" name="Google Shape;247;p17"/>
          <p:cNvSpPr txBox="1"/>
          <p:nvPr/>
        </p:nvSpPr>
        <p:spPr bwMode="auto">
          <a:xfrm>
            <a:off x="8508950" y="3098005"/>
            <a:ext cx="3683049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MITRE ATT&amp;CK connector enabled</a:t>
            </a:r>
            <a:endParaRPr/>
          </a:p>
        </p:txBody>
      </p:sp>
      <p:sp>
        <p:nvSpPr>
          <p:cNvPr id="492515646" name="Google Shape;248;p17"/>
          <p:cNvSpPr txBox="1"/>
          <p:nvPr/>
        </p:nvSpPr>
        <p:spPr bwMode="auto">
          <a:xfrm>
            <a:off x="8508950" y="3407568"/>
            <a:ext cx="30352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ATT&amp;CK information populated after troubleshooting</a:t>
            </a:r>
            <a:endParaRPr/>
          </a:p>
        </p:txBody>
      </p:sp>
      <p:sp>
        <p:nvSpPr>
          <p:cNvPr id="36328900" name="Google Shape;249;p17"/>
          <p:cNvSpPr txBox="1"/>
          <p:nvPr/>
        </p:nvSpPr>
        <p:spPr bwMode="auto">
          <a:xfrm>
            <a:off x="8508950" y="3931443"/>
            <a:ext cx="30352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Threat Actor and Indicator created manually</a:t>
            </a:r>
            <a:endParaRPr/>
          </a:p>
        </p:txBody>
      </p:sp>
      <p:sp>
        <p:nvSpPr>
          <p:cNvPr id="893370224" name="Google Shape;250;p17"/>
          <p:cNvSpPr txBox="1"/>
          <p:nvPr/>
        </p:nvSpPr>
        <p:spPr bwMode="auto">
          <a:xfrm>
            <a:off x="8508950" y="4455318"/>
            <a:ext cx="30352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Relationships between intelligence objects tested</a:t>
            </a:r>
            <a:endParaRPr/>
          </a:p>
        </p:txBody>
      </p:sp>
      <p:sp>
        <p:nvSpPr>
          <p:cNvPr id="607033009" name="Google Shape;251;p17"/>
          <p:cNvSpPr txBox="1"/>
          <p:nvPr/>
        </p:nvSpPr>
        <p:spPr bwMode="auto">
          <a:xfrm>
            <a:off x="742950" y="3098005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748095161" name="Google Shape;252;p17"/>
          <p:cNvSpPr txBox="1"/>
          <p:nvPr/>
        </p:nvSpPr>
        <p:spPr bwMode="auto">
          <a:xfrm>
            <a:off x="742950" y="3407568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515432533" name="Google Shape;253;p17"/>
          <p:cNvSpPr txBox="1"/>
          <p:nvPr/>
        </p:nvSpPr>
        <p:spPr bwMode="auto">
          <a:xfrm>
            <a:off x="4521100" y="3098005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217774021" name="Google Shape;254;p17"/>
          <p:cNvSpPr txBox="1"/>
          <p:nvPr/>
        </p:nvSpPr>
        <p:spPr bwMode="auto">
          <a:xfrm>
            <a:off x="4521100" y="3407568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2030228342" name="Google Shape;255;p17"/>
          <p:cNvSpPr txBox="1"/>
          <p:nvPr/>
        </p:nvSpPr>
        <p:spPr bwMode="auto">
          <a:xfrm>
            <a:off x="4521100" y="3717131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209331573" name="Google Shape;256;p17"/>
          <p:cNvSpPr txBox="1"/>
          <p:nvPr/>
        </p:nvSpPr>
        <p:spPr bwMode="auto">
          <a:xfrm>
            <a:off x="4521100" y="4026693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732230834" name="Google Shape;257;p17"/>
          <p:cNvSpPr txBox="1"/>
          <p:nvPr/>
        </p:nvSpPr>
        <p:spPr bwMode="auto">
          <a:xfrm>
            <a:off x="8299400" y="3098005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822296236" name="Google Shape;258;p17"/>
          <p:cNvSpPr txBox="1"/>
          <p:nvPr/>
        </p:nvSpPr>
        <p:spPr bwMode="auto">
          <a:xfrm>
            <a:off x="8299400" y="3407568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798484246" name="Google Shape;259;p17"/>
          <p:cNvSpPr txBox="1"/>
          <p:nvPr/>
        </p:nvSpPr>
        <p:spPr bwMode="auto">
          <a:xfrm>
            <a:off x="8299400" y="3931443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169499187" name="Google Shape;260;p17"/>
          <p:cNvSpPr txBox="1"/>
          <p:nvPr/>
        </p:nvSpPr>
        <p:spPr bwMode="auto">
          <a:xfrm>
            <a:off x="8299400" y="4455318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309553437" name="Google Shape;261;p17"/>
          <p:cNvSpPr txBox="1"/>
          <p:nvPr/>
        </p:nvSpPr>
        <p:spPr bwMode="auto">
          <a:xfrm>
            <a:off x="1054850" y="3720743"/>
            <a:ext cx="352260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Elasticsearch</a:t>
            </a:r>
            <a:endParaRPr/>
          </a:p>
        </p:txBody>
      </p:sp>
      <p:sp>
        <p:nvSpPr>
          <p:cNvPr id="102257009" name="Google Shape;262;p17"/>
          <p:cNvSpPr txBox="1"/>
          <p:nvPr/>
        </p:nvSpPr>
        <p:spPr bwMode="auto">
          <a:xfrm>
            <a:off x="1028700" y="4026693"/>
            <a:ext cx="3522600" cy="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Redis</a:t>
            </a:r>
            <a:endParaRPr/>
          </a:p>
        </p:txBody>
      </p:sp>
      <p:sp>
        <p:nvSpPr>
          <p:cNvPr id="2038306493" name="Google Shape;263;p17"/>
          <p:cNvSpPr txBox="1"/>
          <p:nvPr/>
        </p:nvSpPr>
        <p:spPr bwMode="auto">
          <a:xfrm>
            <a:off x="1028700" y="4326731"/>
            <a:ext cx="3522538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RabbitMQ</a:t>
            </a:r>
            <a:endParaRPr/>
          </a:p>
        </p:txBody>
      </p:sp>
      <p:sp>
        <p:nvSpPr>
          <p:cNvPr id="1079436526" name="Google Shape;264;p17"/>
          <p:cNvSpPr txBox="1"/>
          <p:nvPr/>
        </p:nvSpPr>
        <p:spPr bwMode="auto">
          <a:xfrm>
            <a:off x="1028700" y="4626768"/>
            <a:ext cx="3522538" cy="204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MinIO</a:t>
            </a:r>
            <a:endParaRPr/>
          </a:p>
        </p:txBody>
      </p:sp>
      <p:sp>
        <p:nvSpPr>
          <p:cNvPr id="943713595" name="Google Shape;265;p17"/>
          <p:cNvSpPr txBox="1"/>
          <p:nvPr/>
        </p:nvSpPr>
        <p:spPr bwMode="auto">
          <a:xfrm>
            <a:off x="809633" y="3326603"/>
            <a:ext cx="4866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/>
            </a:pPr>
            <a:r>
              <a:rPr lang="en-US" sz="1150">
                <a:solidFill>
                  <a:srgbClr val="CBD5E1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150">
                <a:solidFill>
                  <a:srgbClr val="CBD5E1"/>
                </a:solidFill>
                <a:latin typeface="Inter"/>
                <a:ea typeface="Inter"/>
                <a:cs typeface="Inter"/>
              </a:rPr>
              <a:t>Supporting services configured: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1254" name="Google Shape;270;p18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9259759" name="Google Shape;271;p18"/>
          <p:cNvSpPr/>
          <p:nvPr/>
        </p:nvSpPr>
        <p:spPr bwMode="auto">
          <a:xfrm>
            <a:off x="523875" y="1028700"/>
            <a:ext cx="11144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389123" name="Google Shape;272;p18"/>
          <p:cNvSpPr/>
          <p:nvPr/>
        </p:nvSpPr>
        <p:spPr bwMode="auto">
          <a:xfrm>
            <a:off x="10467975" y="533400"/>
            <a:ext cx="1200150" cy="247650"/>
          </a:xfrm>
          <a:prstGeom prst="roundRect">
            <a:avLst>
              <a:gd name="adj" fmla="val 50000"/>
            </a:avLst>
          </a:prstGeom>
          <a:solidFill>
            <a:srgbClr val="0A2A3B"/>
          </a:solidFill>
          <a:ln w="9525" cap="flat" cmpd="sng">
            <a:solidFill>
              <a:srgbClr val="19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19158564" name="Google Shape;273;p18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23875" y="533400"/>
            <a:ext cx="2143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08371842" name="Google Shape;274;p18"/>
          <p:cNvSpPr txBox="1"/>
          <p:nvPr/>
        </p:nvSpPr>
        <p:spPr bwMode="auto">
          <a:xfrm>
            <a:off x="852487" y="428625"/>
            <a:ext cx="1133951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Phase 2 — External Threat Intelligence</a:t>
            </a:r>
            <a:endParaRPr/>
          </a:p>
        </p:txBody>
      </p:sp>
      <p:sp>
        <p:nvSpPr>
          <p:cNvPr id="1508198287" name="Google Shape;275;p18"/>
          <p:cNvSpPr txBox="1"/>
          <p:nvPr/>
        </p:nvSpPr>
        <p:spPr bwMode="auto">
          <a:xfrm>
            <a:off x="10563225" y="571500"/>
            <a:ext cx="11049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FEED INTEGRATION</a:t>
            </a:r>
            <a:endParaRPr/>
          </a:p>
        </p:txBody>
      </p:sp>
      <p:sp>
        <p:nvSpPr>
          <p:cNvPr id="1943486091" name="Google Shape;276;p18"/>
          <p:cNvSpPr/>
          <p:nvPr/>
        </p:nvSpPr>
        <p:spPr bwMode="auto">
          <a:xfrm>
            <a:off x="523875" y="5286375"/>
            <a:ext cx="11144250" cy="628650"/>
          </a:xfrm>
          <a:prstGeom prst="roundRect">
            <a:avLst>
              <a:gd name="adj" fmla="val 15151"/>
            </a:avLst>
          </a:prstGeom>
          <a:solidFill>
            <a:srgbClr val="0E2238"/>
          </a:solidFill>
          <a:ln w="9525" cap="flat" cmpd="sng">
            <a:solidFill>
              <a:srgbClr val="0A4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6951081" name="Google Shape;277;p18"/>
          <p:cNvSpPr/>
          <p:nvPr/>
        </p:nvSpPr>
        <p:spPr bwMode="auto">
          <a:xfrm>
            <a:off x="523875" y="1790700"/>
            <a:ext cx="5486400" cy="1566862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7084433" name="Google Shape;278;p18"/>
          <p:cNvSpPr/>
          <p:nvPr/>
        </p:nvSpPr>
        <p:spPr bwMode="auto">
          <a:xfrm>
            <a:off x="6181725" y="1790700"/>
            <a:ext cx="5486400" cy="1566862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0826" name="Google Shape;279;p18"/>
          <p:cNvSpPr/>
          <p:nvPr/>
        </p:nvSpPr>
        <p:spPr bwMode="auto">
          <a:xfrm>
            <a:off x="523875" y="3529012"/>
            <a:ext cx="5486400" cy="1566862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6088094" name="Google Shape;281;p18"/>
          <p:cNvSpPr/>
          <p:nvPr/>
        </p:nvSpPr>
        <p:spPr bwMode="auto">
          <a:xfrm>
            <a:off x="523875" y="3348037"/>
            <a:ext cx="5486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7660201" name="Google Shape;282;p18"/>
          <p:cNvSpPr/>
          <p:nvPr/>
        </p:nvSpPr>
        <p:spPr bwMode="auto">
          <a:xfrm>
            <a:off x="523875" y="1790700"/>
            <a:ext cx="5486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096606" name="Google Shape;283;p18"/>
          <p:cNvSpPr/>
          <p:nvPr/>
        </p:nvSpPr>
        <p:spPr bwMode="auto">
          <a:xfrm>
            <a:off x="523875" y="1790700"/>
            <a:ext cx="38100" cy="15668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9992228" name="Google Shape;284;p18"/>
          <p:cNvSpPr/>
          <p:nvPr/>
        </p:nvSpPr>
        <p:spPr bwMode="auto">
          <a:xfrm>
            <a:off x="6000750" y="1790700"/>
            <a:ext cx="9525" cy="156686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9360430" name="Google Shape;285;p18"/>
          <p:cNvSpPr/>
          <p:nvPr/>
        </p:nvSpPr>
        <p:spPr bwMode="auto">
          <a:xfrm>
            <a:off x="6181725" y="3348037"/>
            <a:ext cx="5486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767490" name="Google Shape;286;p18"/>
          <p:cNvSpPr/>
          <p:nvPr/>
        </p:nvSpPr>
        <p:spPr bwMode="auto">
          <a:xfrm>
            <a:off x="6181725" y="1790700"/>
            <a:ext cx="5486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0086515" name="Google Shape;287;p18"/>
          <p:cNvSpPr/>
          <p:nvPr/>
        </p:nvSpPr>
        <p:spPr bwMode="auto">
          <a:xfrm>
            <a:off x="6181725" y="1790700"/>
            <a:ext cx="38100" cy="15668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2629823" name="Google Shape;288;p18"/>
          <p:cNvSpPr/>
          <p:nvPr/>
        </p:nvSpPr>
        <p:spPr bwMode="auto">
          <a:xfrm>
            <a:off x="11658600" y="1790700"/>
            <a:ext cx="9525" cy="156686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1684289" name="Google Shape;289;p18"/>
          <p:cNvSpPr/>
          <p:nvPr/>
        </p:nvSpPr>
        <p:spPr bwMode="auto">
          <a:xfrm>
            <a:off x="523875" y="5086350"/>
            <a:ext cx="5486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14695239" name="Google Shape;290;p18"/>
          <p:cNvSpPr/>
          <p:nvPr/>
        </p:nvSpPr>
        <p:spPr bwMode="auto">
          <a:xfrm>
            <a:off x="523875" y="3529012"/>
            <a:ext cx="5486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4582430" name="Google Shape;291;p18"/>
          <p:cNvSpPr/>
          <p:nvPr/>
        </p:nvSpPr>
        <p:spPr bwMode="auto">
          <a:xfrm>
            <a:off x="523875" y="3529012"/>
            <a:ext cx="38100" cy="15668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41199211" name="Google Shape;292;p18"/>
          <p:cNvSpPr/>
          <p:nvPr/>
        </p:nvSpPr>
        <p:spPr bwMode="auto">
          <a:xfrm>
            <a:off x="6000750" y="3529012"/>
            <a:ext cx="9525" cy="156686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6267387" name="Google Shape;297;p18"/>
          <p:cNvSpPr/>
          <p:nvPr/>
        </p:nvSpPr>
        <p:spPr bwMode="auto">
          <a:xfrm>
            <a:off x="4076699" y="1952625"/>
            <a:ext cx="1771650" cy="238125"/>
          </a:xfrm>
          <a:prstGeom prst="roundRect">
            <a:avLst>
              <a:gd name="adj" fmla="val 16000"/>
            </a:avLst>
          </a:prstGeom>
          <a:solidFill>
            <a:srgbClr val="1B2537"/>
          </a:solidFill>
          <a:ln w="9525" cap="flat" cmpd="sng">
            <a:solidFill>
              <a:srgbClr val="3C1E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0717573" name="Google Shape;298;p18"/>
          <p:cNvSpPr/>
          <p:nvPr/>
        </p:nvSpPr>
        <p:spPr bwMode="auto">
          <a:xfrm>
            <a:off x="10115550" y="1952625"/>
            <a:ext cx="1390650" cy="238125"/>
          </a:xfrm>
          <a:prstGeom prst="roundRect">
            <a:avLst>
              <a:gd name="adj" fmla="val 16000"/>
            </a:avLst>
          </a:prstGeom>
          <a:solidFill>
            <a:srgbClr val="1B2537"/>
          </a:solidFill>
          <a:ln w="9525" cap="flat" cmpd="sng">
            <a:solidFill>
              <a:srgbClr val="3C1E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1050285" name="Google Shape;299;p18"/>
          <p:cNvSpPr/>
          <p:nvPr/>
        </p:nvSpPr>
        <p:spPr bwMode="auto">
          <a:xfrm>
            <a:off x="4991100" y="3690937"/>
            <a:ext cx="857250" cy="238125"/>
          </a:xfrm>
          <a:prstGeom prst="roundRect">
            <a:avLst>
              <a:gd name="adj" fmla="val 16000"/>
            </a:avLst>
          </a:prstGeom>
          <a:solidFill>
            <a:srgbClr val="1B2537"/>
          </a:solidFill>
          <a:ln w="9525" cap="flat" cmpd="sng">
            <a:solidFill>
              <a:srgbClr val="3C1E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38015892" name="Google Shape;301;p18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762000" y="54673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273808" name="Google Shape;302;p18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714375" y="199072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2866178" name="Google Shape;303;p18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6372225" y="199072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068577" name="Google Shape;304;p18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714375" y="37290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0667422" name="Google Shape;306;p18"/>
          <p:cNvSpPr txBox="1"/>
          <p:nvPr/>
        </p:nvSpPr>
        <p:spPr bwMode="auto">
          <a:xfrm>
            <a:off x="1181099" y="5493543"/>
            <a:ext cx="110109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</a:rPr>
              <a:t>Final Result:</a:t>
            </a:r>
            <a:r>
              <a:rPr lang="en-US" sz="1150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</a:rPr>
              <a:t> Three external threat intelligence feeds were successfully integrated and populated OpenCTI with usable intelligence.</a:t>
            </a:r>
            <a:endParaRPr/>
          </a:p>
        </p:txBody>
      </p:sp>
      <p:sp>
        <p:nvSpPr>
          <p:cNvPr id="943831182" name="Google Shape;307;p18"/>
          <p:cNvSpPr txBox="1"/>
          <p:nvPr/>
        </p:nvSpPr>
        <p:spPr bwMode="auto">
          <a:xfrm>
            <a:off x="714375" y="1952625"/>
            <a:ext cx="9810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URLhaus</a:t>
            </a:r>
            <a:endParaRPr/>
          </a:p>
        </p:txBody>
      </p:sp>
      <p:sp>
        <p:nvSpPr>
          <p:cNvPr id="1638767076" name="Google Shape;308;p18"/>
          <p:cNvSpPr txBox="1"/>
          <p:nvPr/>
        </p:nvSpPr>
        <p:spPr bwMode="auto">
          <a:xfrm>
            <a:off x="4152900" y="1981200"/>
            <a:ext cx="1714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URLs / Infrastructure</a:t>
            </a:r>
            <a:endParaRPr/>
          </a:p>
        </p:txBody>
      </p:sp>
      <p:sp>
        <p:nvSpPr>
          <p:cNvPr id="926242169" name="Google Shape;309;p18"/>
          <p:cNvSpPr txBox="1"/>
          <p:nvPr/>
        </p:nvSpPr>
        <p:spPr bwMode="auto">
          <a:xfrm>
            <a:off x="923925" y="2266950"/>
            <a:ext cx="6207918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Malicious URLs</a:t>
            </a:r>
            <a:endParaRPr/>
          </a:p>
        </p:txBody>
      </p:sp>
      <p:sp>
        <p:nvSpPr>
          <p:cNvPr id="2081279198" name="Google Shape;310;p18"/>
          <p:cNvSpPr txBox="1"/>
          <p:nvPr/>
        </p:nvSpPr>
        <p:spPr bwMode="auto">
          <a:xfrm>
            <a:off x="923925" y="2576512"/>
            <a:ext cx="6207918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Malware distribution infrastructure</a:t>
            </a:r>
            <a:endParaRPr/>
          </a:p>
        </p:txBody>
      </p:sp>
      <p:sp>
        <p:nvSpPr>
          <p:cNvPr id="1497113880" name="Google Shape;311;p18"/>
          <p:cNvSpPr txBox="1"/>
          <p:nvPr/>
        </p:nvSpPr>
        <p:spPr bwMode="auto">
          <a:xfrm>
            <a:off x="6372225" y="1952625"/>
            <a:ext cx="14859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MalwareBazaar</a:t>
            </a:r>
            <a:endParaRPr/>
          </a:p>
        </p:txBody>
      </p:sp>
      <p:sp>
        <p:nvSpPr>
          <p:cNvPr id="819194924" name="Google Shape;312;p18"/>
          <p:cNvSpPr txBox="1"/>
          <p:nvPr/>
        </p:nvSpPr>
        <p:spPr bwMode="auto">
          <a:xfrm>
            <a:off x="10191750" y="1981200"/>
            <a:ext cx="1333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Hashes / Samples</a:t>
            </a:r>
            <a:endParaRPr/>
          </a:p>
        </p:txBody>
      </p:sp>
      <p:sp>
        <p:nvSpPr>
          <p:cNvPr id="884127172" name="Google Shape;313;p18"/>
          <p:cNvSpPr txBox="1"/>
          <p:nvPr/>
        </p:nvSpPr>
        <p:spPr bwMode="auto">
          <a:xfrm>
            <a:off x="6581774" y="2266950"/>
            <a:ext cx="56102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Malware samples</a:t>
            </a:r>
            <a:endParaRPr/>
          </a:p>
        </p:txBody>
      </p:sp>
      <p:sp>
        <p:nvSpPr>
          <p:cNvPr id="1738179001" name="Google Shape;314;p18"/>
          <p:cNvSpPr txBox="1"/>
          <p:nvPr/>
        </p:nvSpPr>
        <p:spPr bwMode="auto">
          <a:xfrm>
            <a:off x="6581774" y="2576512"/>
            <a:ext cx="56102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File hashes</a:t>
            </a:r>
            <a:endParaRPr/>
          </a:p>
        </p:txBody>
      </p:sp>
      <p:sp>
        <p:nvSpPr>
          <p:cNvPr id="269734085" name="Google Shape;315;p18"/>
          <p:cNvSpPr txBox="1"/>
          <p:nvPr/>
        </p:nvSpPr>
        <p:spPr bwMode="auto">
          <a:xfrm>
            <a:off x="6581774" y="2886075"/>
            <a:ext cx="56102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Malware family information</a:t>
            </a:r>
            <a:endParaRPr/>
          </a:p>
        </p:txBody>
      </p:sp>
      <p:sp>
        <p:nvSpPr>
          <p:cNvPr id="294945538" name="Google Shape;316;p18"/>
          <p:cNvSpPr txBox="1"/>
          <p:nvPr/>
        </p:nvSpPr>
        <p:spPr bwMode="auto">
          <a:xfrm>
            <a:off x="714375" y="3690937"/>
            <a:ext cx="10858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ThreatFox</a:t>
            </a:r>
            <a:endParaRPr/>
          </a:p>
        </p:txBody>
      </p:sp>
      <p:sp>
        <p:nvSpPr>
          <p:cNvPr id="2095252815" name="Google Shape;317;p18"/>
          <p:cNvSpPr txBox="1"/>
          <p:nvPr/>
        </p:nvSpPr>
        <p:spPr bwMode="auto">
          <a:xfrm>
            <a:off x="5067300" y="3719512"/>
            <a:ext cx="8001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IOCs / C2</a:t>
            </a:r>
            <a:endParaRPr/>
          </a:p>
        </p:txBody>
      </p:sp>
      <p:sp>
        <p:nvSpPr>
          <p:cNvPr id="2086835141" name="Google Shape;318;p18"/>
          <p:cNvSpPr txBox="1"/>
          <p:nvPr/>
        </p:nvSpPr>
        <p:spPr bwMode="auto">
          <a:xfrm>
            <a:off x="923925" y="4005262"/>
            <a:ext cx="6207918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IOC intelligence</a:t>
            </a:r>
            <a:endParaRPr/>
          </a:p>
        </p:txBody>
      </p:sp>
      <p:sp>
        <p:nvSpPr>
          <p:cNvPr id="1252483600" name="Google Shape;319;p18"/>
          <p:cNvSpPr txBox="1"/>
          <p:nvPr/>
        </p:nvSpPr>
        <p:spPr bwMode="auto">
          <a:xfrm>
            <a:off x="923925" y="4314825"/>
            <a:ext cx="6207918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IP addresses</a:t>
            </a:r>
            <a:endParaRPr/>
          </a:p>
        </p:txBody>
      </p:sp>
      <p:sp>
        <p:nvSpPr>
          <p:cNvPr id="1362501214" name="Google Shape;320;p18"/>
          <p:cNvSpPr txBox="1"/>
          <p:nvPr/>
        </p:nvSpPr>
        <p:spPr bwMode="auto">
          <a:xfrm>
            <a:off x="923925" y="4624386"/>
            <a:ext cx="6207918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Command-and-control infrastructure</a:t>
            </a:r>
            <a:endParaRPr/>
          </a:p>
        </p:txBody>
      </p:sp>
      <p:sp>
        <p:nvSpPr>
          <p:cNvPr id="1669478251" name="Google Shape;323;p18"/>
          <p:cNvSpPr txBox="1"/>
          <p:nvPr/>
        </p:nvSpPr>
        <p:spPr bwMode="auto">
          <a:xfrm>
            <a:off x="6581773" y="4005261"/>
            <a:ext cx="5610584" cy="213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496957867" name="Google Shape;325;p18"/>
          <p:cNvSpPr txBox="1"/>
          <p:nvPr/>
        </p:nvSpPr>
        <p:spPr bwMode="auto">
          <a:xfrm>
            <a:off x="714375" y="2266950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665620161" name="Google Shape;326;p18"/>
          <p:cNvSpPr txBox="1"/>
          <p:nvPr/>
        </p:nvSpPr>
        <p:spPr bwMode="auto">
          <a:xfrm>
            <a:off x="714375" y="2576512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800540443" name="Google Shape;327;p18"/>
          <p:cNvSpPr txBox="1"/>
          <p:nvPr/>
        </p:nvSpPr>
        <p:spPr bwMode="auto">
          <a:xfrm>
            <a:off x="6372225" y="2266950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994427164" name="Google Shape;328;p18"/>
          <p:cNvSpPr txBox="1"/>
          <p:nvPr/>
        </p:nvSpPr>
        <p:spPr bwMode="auto">
          <a:xfrm>
            <a:off x="6372225" y="2576512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070671623" name="Google Shape;329;p18"/>
          <p:cNvSpPr txBox="1"/>
          <p:nvPr/>
        </p:nvSpPr>
        <p:spPr bwMode="auto">
          <a:xfrm>
            <a:off x="6372225" y="2886075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2089887717" name="Google Shape;330;p18"/>
          <p:cNvSpPr txBox="1"/>
          <p:nvPr/>
        </p:nvSpPr>
        <p:spPr bwMode="auto">
          <a:xfrm>
            <a:off x="714375" y="4005262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2011855516" name="Google Shape;331;p18"/>
          <p:cNvSpPr txBox="1"/>
          <p:nvPr/>
        </p:nvSpPr>
        <p:spPr bwMode="auto">
          <a:xfrm>
            <a:off x="714375" y="4314825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108766104" name="Google Shape;332;p18"/>
          <p:cNvSpPr txBox="1"/>
          <p:nvPr/>
        </p:nvSpPr>
        <p:spPr bwMode="auto">
          <a:xfrm>
            <a:off x="714375" y="4624386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3597182" name="Google Shape;339;p19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1817417" name="Google Shape;340;p19"/>
          <p:cNvSpPr/>
          <p:nvPr/>
        </p:nvSpPr>
        <p:spPr bwMode="auto">
          <a:xfrm>
            <a:off x="523875" y="1028700"/>
            <a:ext cx="11144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74844" name="Google Shape;341;p19"/>
          <p:cNvSpPr/>
          <p:nvPr/>
        </p:nvSpPr>
        <p:spPr bwMode="auto">
          <a:xfrm>
            <a:off x="10777537" y="533400"/>
            <a:ext cx="890587" cy="247650"/>
          </a:xfrm>
          <a:prstGeom prst="roundRect">
            <a:avLst>
              <a:gd name="adj" fmla="val 50000"/>
            </a:avLst>
          </a:prstGeom>
          <a:solidFill>
            <a:srgbClr val="0A2A3B"/>
          </a:solidFill>
          <a:ln w="9525" cap="flat" cmpd="sng">
            <a:solidFill>
              <a:srgbClr val="19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65537925" name="Google Shape;342;p19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23875" y="533400"/>
            <a:ext cx="24288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49939886" name="Google Shape;343;p19"/>
          <p:cNvSpPr txBox="1"/>
          <p:nvPr/>
        </p:nvSpPr>
        <p:spPr bwMode="auto">
          <a:xfrm>
            <a:off x="881062" y="428625"/>
            <a:ext cx="1131093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Indicators Investigated</a:t>
            </a:r>
            <a:endParaRPr/>
          </a:p>
        </p:txBody>
      </p:sp>
      <p:sp>
        <p:nvSpPr>
          <p:cNvPr id="861211394" name="Google Shape;344;p19"/>
          <p:cNvSpPr txBox="1"/>
          <p:nvPr/>
        </p:nvSpPr>
        <p:spPr bwMode="auto">
          <a:xfrm>
            <a:off x="10872787" y="571500"/>
            <a:ext cx="79533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CTI SAMPLES</a:t>
            </a:r>
            <a:endParaRPr/>
          </a:p>
        </p:txBody>
      </p:sp>
      <p:sp>
        <p:nvSpPr>
          <p:cNvPr id="1936015506" name="Google Shape;345;p19"/>
          <p:cNvSpPr/>
          <p:nvPr/>
        </p:nvSpPr>
        <p:spPr bwMode="auto">
          <a:xfrm>
            <a:off x="523875" y="2817018"/>
            <a:ext cx="3587650" cy="2071687"/>
          </a:xfrm>
          <a:prstGeom prst="roundRect">
            <a:avLst>
              <a:gd name="adj" fmla="val 4597"/>
            </a:avLst>
          </a:prstGeom>
          <a:solidFill>
            <a:srgbClr val="0E1629"/>
          </a:solidFill>
          <a:ln w="9525" cap="flat" cmpd="sng">
            <a:solidFill>
              <a:srgbClr val="2B37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7899050" name="Google Shape;346;p19"/>
          <p:cNvSpPr/>
          <p:nvPr/>
        </p:nvSpPr>
        <p:spPr bwMode="auto">
          <a:xfrm>
            <a:off x="4302025" y="2817018"/>
            <a:ext cx="3587799" cy="2071687"/>
          </a:xfrm>
          <a:prstGeom prst="roundRect">
            <a:avLst>
              <a:gd name="adj" fmla="val 4597"/>
            </a:avLst>
          </a:prstGeom>
          <a:solidFill>
            <a:srgbClr val="0E1629"/>
          </a:solidFill>
          <a:ln w="9525" cap="flat" cmpd="sng">
            <a:solidFill>
              <a:srgbClr val="2B37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5075212" name="Google Shape;347;p19"/>
          <p:cNvSpPr/>
          <p:nvPr/>
        </p:nvSpPr>
        <p:spPr bwMode="auto">
          <a:xfrm>
            <a:off x="8080325" y="2817018"/>
            <a:ext cx="3587650" cy="2071687"/>
          </a:xfrm>
          <a:prstGeom prst="roundRect">
            <a:avLst>
              <a:gd name="adj" fmla="val 4597"/>
            </a:avLst>
          </a:prstGeom>
          <a:solidFill>
            <a:srgbClr val="0E1629"/>
          </a:solidFill>
          <a:ln w="9525" cap="flat" cmpd="sng">
            <a:solidFill>
              <a:srgbClr val="2B37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7697292" name="Google Shape;348;p19"/>
          <p:cNvSpPr/>
          <p:nvPr/>
        </p:nvSpPr>
        <p:spPr bwMode="auto">
          <a:xfrm>
            <a:off x="723900" y="3017043"/>
            <a:ext cx="3187600" cy="361950"/>
          </a:xfrm>
          <a:prstGeom prst="roundRect">
            <a:avLst>
              <a:gd name="adj" fmla="val 15789"/>
            </a:avLst>
          </a:prstGeom>
          <a:solidFill>
            <a:srgbClr val="251A2E"/>
          </a:solidFill>
          <a:ln w="9525" cap="flat" cmpd="sng">
            <a:solidFill>
              <a:srgbClr val="3C1E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9955900" name="Google Shape;349;p19"/>
          <p:cNvSpPr/>
          <p:nvPr/>
        </p:nvSpPr>
        <p:spPr bwMode="auto">
          <a:xfrm>
            <a:off x="4502050" y="3017043"/>
            <a:ext cx="3187749" cy="361950"/>
          </a:xfrm>
          <a:prstGeom prst="roundRect">
            <a:avLst>
              <a:gd name="adj" fmla="val 15789"/>
            </a:avLst>
          </a:prstGeom>
          <a:solidFill>
            <a:srgbClr val="251A2E"/>
          </a:solidFill>
          <a:ln w="9525" cap="flat" cmpd="sng">
            <a:solidFill>
              <a:srgbClr val="3C1E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7808812" name="Google Shape;350;p19"/>
          <p:cNvSpPr/>
          <p:nvPr/>
        </p:nvSpPr>
        <p:spPr bwMode="auto">
          <a:xfrm>
            <a:off x="8280350" y="3017043"/>
            <a:ext cx="3187600" cy="361950"/>
          </a:xfrm>
          <a:prstGeom prst="roundRect">
            <a:avLst>
              <a:gd name="adj" fmla="val 15789"/>
            </a:avLst>
          </a:prstGeom>
          <a:solidFill>
            <a:srgbClr val="251A2E"/>
          </a:solidFill>
          <a:ln w="9525" cap="flat" cmpd="sng">
            <a:solidFill>
              <a:srgbClr val="3C1E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9529160" name="Google Shape;351;p19"/>
          <p:cNvSpPr txBox="1"/>
          <p:nvPr/>
        </p:nvSpPr>
        <p:spPr bwMode="auto">
          <a:xfrm>
            <a:off x="439749" y="3093243"/>
            <a:ext cx="375589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175.41.16.98</a:t>
            </a:r>
            <a:endParaRPr/>
          </a:p>
        </p:txBody>
      </p:sp>
      <p:sp>
        <p:nvSpPr>
          <p:cNvPr id="607742856" name="Google Shape;352;p19"/>
          <p:cNvSpPr txBox="1"/>
          <p:nvPr/>
        </p:nvSpPr>
        <p:spPr bwMode="auto">
          <a:xfrm>
            <a:off x="723900" y="3521868"/>
            <a:ext cx="39845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SOURCE: THREATFOX</a:t>
            </a:r>
            <a:endParaRPr/>
          </a:p>
        </p:txBody>
      </p:sp>
      <p:sp>
        <p:nvSpPr>
          <p:cNvPr id="1772726287" name="Google Shape;353;p19"/>
          <p:cNvSpPr txBox="1"/>
          <p:nvPr/>
        </p:nvSpPr>
        <p:spPr bwMode="auto">
          <a:xfrm>
            <a:off x="4217882" y="3093243"/>
            <a:ext cx="3756087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180.115.161.206</a:t>
            </a:r>
            <a:endParaRPr/>
          </a:p>
        </p:txBody>
      </p:sp>
      <p:sp>
        <p:nvSpPr>
          <p:cNvPr id="1108368654" name="Google Shape;354;p19"/>
          <p:cNvSpPr txBox="1"/>
          <p:nvPr/>
        </p:nvSpPr>
        <p:spPr bwMode="auto">
          <a:xfrm>
            <a:off x="4502050" y="3521868"/>
            <a:ext cx="398468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SOURCE: URLHAUS</a:t>
            </a:r>
            <a:endParaRPr/>
          </a:p>
        </p:txBody>
      </p:sp>
      <p:sp>
        <p:nvSpPr>
          <p:cNvPr id="1358952787" name="Google Shape;355;p19"/>
          <p:cNvSpPr txBox="1"/>
          <p:nvPr/>
        </p:nvSpPr>
        <p:spPr bwMode="auto">
          <a:xfrm>
            <a:off x="7996200" y="3093243"/>
            <a:ext cx="375589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Malware Hash</a:t>
            </a:r>
            <a:endParaRPr/>
          </a:p>
        </p:txBody>
      </p:sp>
      <p:sp>
        <p:nvSpPr>
          <p:cNvPr id="1620010588" name="Google Shape;356;p19"/>
          <p:cNvSpPr txBox="1"/>
          <p:nvPr/>
        </p:nvSpPr>
        <p:spPr bwMode="auto">
          <a:xfrm>
            <a:off x="8280350" y="3521868"/>
            <a:ext cx="391164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SOURCE: MALWAREBAZAAR</a:t>
            </a:r>
            <a:endParaRPr/>
          </a:p>
        </p:txBody>
      </p:sp>
      <p:sp>
        <p:nvSpPr>
          <p:cNvPr id="736406999" name="Google Shape;357;p19"/>
          <p:cNvSpPr txBox="1"/>
          <p:nvPr/>
        </p:nvSpPr>
        <p:spPr bwMode="auto">
          <a:xfrm>
            <a:off x="933450" y="3759993"/>
            <a:ext cx="37749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CobaltStrike</a:t>
            </a:r>
            <a:endParaRPr/>
          </a:p>
        </p:txBody>
      </p:sp>
      <p:sp>
        <p:nvSpPr>
          <p:cNvPr id="1710415566" name="Google Shape;358;p19"/>
          <p:cNvSpPr txBox="1"/>
          <p:nvPr/>
        </p:nvSpPr>
        <p:spPr bwMode="auto">
          <a:xfrm>
            <a:off x="933450" y="4069556"/>
            <a:ext cx="37749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botnet_cc</a:t>
            </a:r>
            <a:endParaRPr/>
          </a:p>
        </p:txBody>
      </p:sp>
      <p:sp>
        <p:nvSpPr>
          <p:cNvPr id="1048025687" name="Google Shape;359;p19"/>
          <p:cNvSpPr txBox="1"/>
          <p:nvPr/>
        </p:nvSpPr>
        <p:spPr bwMode="auto">
          <a:xfrm>
            <a:off x="933450" y="4379118"/>
            <a:ext cx="37749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Confirmed by Other Sources</a:t>
            </a:r>
            <a:endParaRPr/>
          </a:p>
        </p:txBody>
      </p:sp>
      <p:sp>
        <p:nvSpPr>
          <p:cNvPr id="314639928" name="Google Shape;360;p19"/>
          <p:cNvSpPr txBox="1"/>
          <p:nvPr/>
        </p:nvSpPr>
        <p:spPr bwMode="auto">
          <a:xfrm>
            <a:off x="4711600" y="3759993"/>
            <a:ext cx="3775137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Mozi / Mirai</a:t>
            </a:r>
            <a:endParaRPr/>
          </a:p>
        </p:txBody>
      </p:sp>
      <p:sp>
        <p:nvSpPr>
          <p:cNvPr id="1477019525" name="Google Shape;361;p19"/>
          <p:cNvSpPr txBox="1"/>
          <p:nvPr/>
        </p:nvSpPr>
        <p:spPr bwMode="auto">
          <a:xfrm>
            <a:off x="4711600" y="4069556"/>
            <a:ext cx="3775137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ELF ARM malware distribution</a:t>
            </a:r>
            <a:endParaRPr/>
          </a:p>
        </p:txBody>
      </p:sp>
      <p:sp>
        <p:nvSpPr>
          <p:cNvPr id="74547535" name="Google Shape;362;p19"/>
          <p:cNvSpPr txBox="1"/>
          <p:nvPr/>
        </p:nvSpPr>
        <p:spPr bwMode="auto">
          <a:xfrm>
            <a:off x="4711600" y="4379118"/>
            <a:ext cx="3775137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Active malware distribution point</a:t>
            </a:r>
            <a:endParaRPr/>
          </a:p>
        </p:txBody>
      </p:sp>
      <p:sp>
        <p:nvSpPr>
          <p:cNvPr id="1763854124" name="Google Shape;363;p19"/>
          <p:cNvSpPr txBox="1"/>
          <p:nvPr/>
        </p:nvSpPr>
        <p:spPr bwMode="auto">
          <a:xfrm>
            <a:off x="8489899" y="3759993"/>
            <a:ext cx="3702818" cy="583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 spc="0">
                <a:solidFill>
                  <a:srgbClr val="CBD5E1"/>
                </a:solidFill>
                <a:latin typeface="Inter"/>
                <a:ea typeface="Inter"/>
                <a:cs typeface="Inter"/>
              </a:rPr>
              <a:t>Score: </a:t>
            </a:r>
            <a:r>
              <a:rPr lang="en-US" sz="1150" b="1" i="0" u="none" strike="noStrike" cap="none" spc="0">
                <a:solidFill>
                  <a:srgbClr val="CBD5E1"/>
                </a:solidFill>
                <a:latin typeface="Inter"/>
                <a:ea typeface="Inter"/>
                <a:cs typeface="Inter"/>
              </a:rPr>
              <a:t>100/100</a:t>
            </a:r>
            <a:endParaRPr sz="1150"/>
          </a:p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70922805" name="Google Shape;364;p19"/>
          <p:cNvSpPr txBox="1"/>
          <p:nvPr/>
        </p:nvSpPr>
        <p:spPr bwMode="auto">
          <a:xfrm>
            <a:off x="8489899" y="4069555"/>
            <a:ext cx="3702818" cy="47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 spc="0">
                <a:solidFill>
                  <a:srgbClr val="CBD5E1"/>
                </a:solidFill>
                <a:latin typeface="Inter"/>
                <a:ea typeface="Inter"/>
                <a:cs typeface="Inter"/>
              </a:rPr>
              <a:t>Associated with Remus loader</a:t>
            </a:r>
            <a:endParaRPr sz="1150"/>
          </a:p>
          <a:p>
            <a:pPr>
              <a:defRPr/>
            </a:pPr>
            <a:endParaRPr/>
          </a:p>
        </p:txBody>
      </p:sp>
      <p:sp>
        <p:nvSpPr>
          <p:cNvPr id="233166196" name="Google Shape;366;p19"/>
          <p:cNvSpPr txBox="1"/>
          <p:nvPr/>
        </p:nvSpPr>
        <p:spPr bwMode="auto">
          <a:xfrm>
            <a:off x="723900" y="3759993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370907103" name="Google Shape;367;p19"/>
          <p:cNvSpPr txBox="1"/>
          <p:nvPr/>
        </p:nvSpPr>
        <p:spPr bwMode="auto">
          <a:xfrm>
            <a:off x="723900" y="4069556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000504242" name="Google Shape;368;p19"/>
          <p:cNvSpPr txBox="1"/>
          <p:nvPr/>
        </p:nvSpPr>
        <p:spPr bwMode="auto">
          <a:xfrm>
            <a:off x="723900" y="4379118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624268098" name="Google Shape;369;p19"/>
          <p:cNvSpPr txBox="1"/>
          <p:nvPr/>
        </p:nvSpPr>
        <p:spPr bwMode="auto">
          <a:xfrm>
            <a:off x="4502050" y="3759993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903164633" name="Google Shape;370;p19"/>
          <p:cNvSpPr txBox="1"/>
          <p:nvPr/>
        </p:nvSpPr>
        <p:spPr bwMode="auto">
          <a:xfrm>
            <a:off x="4502050" y="4069556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23044312" name="Google Shape;371;p19"/>
          <p:cNvSpPr txBox="1"/>
          <p:nvPr/>
        </p:nvSpPr>
        <p:spPr bwMode="auto">
          <a:xfrm>
            <a:off x="4502050" y="4379118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33073564" name="Google Shape;372;p19"/>
          <p:cNvSpPr txBox="1"/>
          <p:nvPr/>
        </p:nvSpPr>
        <p:spPr bwMode="auto">
          <a:xfrm>
            <a:off x="8280350" y="3759993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924954480" name="Google Shape;373;p19"/>
          <p:cNvSpPr txBox="1"/>
          <p:nvPr/>
        </p:nvSpPr>
        <p:spPr bwMode="auto">
          <a:xfrm>
            <a:off x="8280350" y="4069556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0604466" name="Google Shape;379;p20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852541" name="Google Shape;380;p20"/>
          <p:cNvSpPr/>
          <p:nvPr/>
        </p:nvSpPr>
        <p:spPr bwMode="auto">
          <a:xfrm>
            <a:off x="523875" y="1028700"/>
            <a:ext cx="11144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1778722" name="Google Shape;381;p20"/>
          <p:cNvSpPr/>
          <p:nvPr/>
        </p:nvSpPr>
        <p:spPr bwMode="auto">
          <a:xfrm>
            <a:off x="10282237" y="533400"/>
            <a:ext cx="1385887" cy="247650"/>
          </a:xfrm>
          <a:prstGeom prst="roundRect">
            <a:avLst>
              <a:gd name="adj" fmla="val 50000"/>
            </a:avLst>
          </a:prstGeom>
          <a:solidFill>
            <a:srgbClr val="0A2A3B"/>
          </a:solidFill>
          <a:ln w="9525" cap="flat" cmpd="sng">
            <a:solidFill>
              <a:srgbClr val="19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79690090" name="Google Shape;382;p20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23875" y="533400"/>
            <a:ext cx="2143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379929" name="Google Shape;383;p20"/>
          <p:cNvSpPr txBox="1"/>
          <p:nvPr/>
        </p:nvSpPr>
        <p:spPr bwMode="auto">
          <a:xfrm>
            <a:off x="852487" y="428625"/>
            <a:ext cx="1133951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Phase 3 — SIEM Threat Intelligence Enrichment</a:t>
            </a:r>
            <a:endParaRPr/>
          </a:p>
        </p:txBody>
      </p:sp>
      <p:sp>
        <p:nvSpPr>
          <p:cNvPr id="946041263" name="Google Shape;384;p20"/>
          <p:cNvSpPr txBox="1"/>
          <p:nvPr/>
        </p:nvSpPr>
        <p:spPr bwMode="auto">
          <a:xfrm>
            <a:off x="10377487" y="571500"/>
            <a:ext cx="129063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ENRICHMENT PIPELINE</a:t>
            </a:r>
            <a:endParaRPr/>
          </a:p>
        </p:txBody>
      </p:sp>
      <p:sp>
        <p:nvSpPr>
          <p:cNvPr id="114163674" name="Google Shape;385;p20"/>
          <p:cNvSpPr/>
          <p:nvPr/>
        </p:nvSpPr>
        <p:spPr bwMode="auto">
          <a:xfrm>
            <a:off x="523875" y="1866900"/>
            <a:ext cx="11144250" cy="1047750"/>
          </a:xfrm>
          <a:prstGeom prst="roundRect">
            <a:avLst>
              <a:gd name="adj" fmla="val 9090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2886043" name="Google Shape;386;p20"/>
          <p:cNvSpPr/>
          <p:nvPr/>
        </p:nvSpPr>
        <p:spPr bwMode="auto">
          <a:xfrm>
            <a:off x="523875" y="3105150"/>
            <a:ext cx="11144250" cy="1914525"/>
          </a:xfrm>
          <a:prstGeom prst="roundRect">
            <a:avLst>
              <a:gd name="adj" fmla="val 4975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30565471" name="Google Shape;387;p20"/>
          <p:cNvSpPr/>
          <p:nvPr/>
        </p:nvSpPr>
        <p:spPr bwMode="auto">
          <a:xfrm>
            <a:off x="523875" y="5210175"/>
            <a:ext cx="11144250" cy="628650"/>
          </a:xfrm>
          <a:prstGeom prst="roundRect">
            <a:avLst>
              <a:gd name="adj" fmla="val 15151"/>
            </a:avLst>
          </a:prstGeom>
          <a:solidFill>
            <a:srgbClr val="0E2238"/>
          </a:solidFill>
          <a:ln w="9525" cap="flat" cmpd="sng">
            <a:solidFill>
              <a:srgbClr val="0A4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2495458" name="Google Shape;388;p20"/>
          <p:cNvSpPr/>
          <p:nvPr/>
        </p:nvSpPr>
        <p:spPr bwMode="auto">
          <a:xfrm>
            <a:off x="742950" y="2457450"/>
            <a:ext cx="704850" cy="238125"/>
          </a:xfrm>
          <a:prstGeom prst="roundRect">
            <a:avLst>
              <a:gd name="adj" fmla="val 16000"/>
            </a:avLst>
          </a:prstGeom>
          <a:solidFill>
            <a:srgbClr val="1B2537"/>
          </a:solidFill>
          <a:ln w="9525" cap="flat" cmpd="sng">
            <a:solidFill>
              <a:srgbClr val="3C1E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4050584" name="Google Shape;389;p20"/>
          <p:cNvSpPr/>
          <p:nvPr/>
        </p:nvSpPr>
        <p:spPr bwMode="auto">
          <a:xfrm>
            <a:off x="1590675" y="2457450"/>
            <a:ext cx="2609850" cy="238125"/>
          </a:xfrm>
          <a:prstGeom prst="roundRect">
            <a:avLst>
              <a:gd name="adj" fmla="val 16000"/>
            </a:avLst>
          </a:prstGeom>
          <a:solidFill>
            <a:srgbClr val="1B2537"/>
          </a:solidFill>
          <a:ln w="9525" cap="flat" cmpd="sng">
            <a:solidFill>
              <a:srgbClr val="3C1E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1676582" name="Google Shape;390;p20"/>
          <p:cNvSpPr/>
          <p:nvPr/>
        </p:nvSpPr>
        <p:spPr bwMode="auto">
          <a:xfrm>
            <a:off x="4343400" y="2457450"/>
            <a:ext cx="1543050" cy="238125"/>
          </a:xfrm>
          <a:prstGeom prst="roundRect">
            <a:avLst>
              <a:gd name="adj" fmla="val 16000"/>
            </a:avLst>
          </a:prstGeom>
          <a:solidFill>
            <a:srgbClr val="1B2537"/>
          </a:solidFill>
          <a:ln w="9525" cap="flat" cmpd="sng">
            <a:solidFill>
              <a:srgbClr val="3C1E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062673" name="Google Shape;391;p20"/>
          <p:cNvSpPr/>
          <p:nvPr/>
        </p:nvSpPr>
        <p:spPr bwMode="auto">
          <a:xfrm>
            <a:off x="742950" y="3752850"/>
            <a:ext cx="1464022" cy="1047750"/>
          </a:xfrm>
          <a:prstGeom prst="roundRect">
            <a:avLst>
              <a:gd name="adj" fmla="val 7272"/>
            </a:avLst>
          </a:prstGeom>
          <a:solidFill>
            <a:srgbClr val="0F172A"/>
          </a:solidFill>
          <a:ln w="9525" cap="flat" cmpd="sng">
            <a:solidFill>
              <a:srgbClr val="2834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1214774" name="Google Shape;392;p20"/>
          <p:cNvSpPr/>
          <p:nvPr/>
        </p:nvSpPr>
        <p:spPr bwMode="auto">
          <a:xfrm>
            <a:off x="2283172" y="3752850"/>
            <a:ext cx="1464171" cy="1047750"/>
          </a:xfrm>
          <a:prstGeom prst="roundRect">
            <a:avLst>
              <a:gd name="adj" fmla="val 7272"/>
            </a:avLst>
          </a:prstGeom>
          <a:solidFill>
            <a:srgbClr val="0F172A"/>
          </a:solidFill>
          <a:ln w="9525" cap="flat" cmpd="sng">
            <a:solidFill>
              <a:srgbClr val="2834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9801117" name="Google Shape;393;p20"/>
          <p:cNvSpPr/>
          <p:nvPr/>
        </p:nvSpPr>
        <p:spPr bwMode="auto">
          <a:xfrm>
            <a:off x="3823543" y="3752850"/>
            <a:ext cx="1464171" cy="1047750"/>
          </a:xfrm>
          <a:prstGeom prst="roundRect">
            <a:avLst>
              <a:gd name="adj" fmla="val 7272"/>
            </a:avLst>
          </a:prstGeom>
          <a:solidFill>
            <a:srgbClr val="0F172A"/>
          </a:solidFill>
          <a:ln w="9525" cap="flat" cmpd="sng">
            <a:solidFill>
              <a:srgbClr val="2834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0714159" name="Google Shape;394;p20"/>
          <p:cNvSpPr/>
          <p:nvPr/>
        </p:nvSpPr>
        <p:spPr bwMode="auto">
          <a:xfrm>
            <a:off x="5363913" y="3752850"/>
            <a:ext cx="1464022" cy="1047750"/>
          </a:xfrm>
          <a:prstGeom prst="roundRect">
            <a:avLst>
              <a:gd name="adj" fmla="val 7272"/>
            </a:avLst>
          </a:prstGeom>
          <a:solidFill>
            <a:srgbClr val="0F172A"/>
          </a:solidFill>
          <a:ln w="9525" cap="flat" cmpd="sng">
            <a:solidFill>
              <a:srgbClr val="2834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1416813" name="Google Shape;395;p20"/>
          <p:cNvSpPr/>
          <p:nvPr/>
        </p:nvSpPr>
        <p:spPr bwMode="auto">
          <a:xfrm>
            <a:off x="6904135" y="3752850"/>
            <a:ext cx="1464171" cy="1047750"/>
          </a:xfrm>
          <a:prstGeom prst="roundRect">
            <a:avLst>
              <a:gd name="adj" fmla="val 7272"/>
            </a:avLst>
          </a:prstGeom>
          <a:solidFill>
            <a:srgbClr val="0F172A"/>
          </a:solidFill>
          <a:ln w="9525" cap="flat" cmpd="sng">
            <a:solidFill>
              <a:srgbClr val="2834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1146881" name="Google Shape;396;p20"/>
          <p:cNvSpPr/>
          <p:nvPr/>
        </p:nvSpPr>
        <p:spPr bwMode="auto">
          <a:xfrm>
            <a:off x="8444507" y="3752850"/>
            <a:ext cx="1464171" cy="1047750"/>
          </a:xfrm>
          <a:prstGeom prst="roundRect">
            <a:avLst>
              <a:gd name="adj" fmla="val 7272"/>
            </a:avLst>
          </a:prstGeom>
          <a:solidFill>
            <a:srgbClr val="0F172A"/>
          </a:solidFill>
          <a:ln w="9525" cap="flat" cmpd="sng">
            <a:solidFill>
              <a:srgbClr val="2834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6781342" name="Google Shape;397;p20"/>
          <p:cNvSpPr/>
          <p:nvPr/>
        </p:nvSpPr>
        <p:spPr bwMode="auto">
          <a:xfrm>
            <a:off x="9984878" y="3752850"/>
            <a:ext cx="1464022" cy="1047750"/>
          </a:xfrm>
          <a:prstGeom prst="roundRect">
            <a:avLst>
              <a:gd name="adj" fmla="val 7272"/>
            </a:avLst>
          </a:prstGeom>
          <a:solidFill>
            <a:srgbClr val="0F172A"/>
          </a:solidFill>
          <a:ln w="9525" cap="flat" cmpd="sng">
            <a:solidFill>
              <a:srgbClr val="2834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93197706" name="Google Shape;398;p20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762000" y="539115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2367060" name="Google Shape;399;p20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742950" y="2128837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8223717" name="Google Shape;400;p20" descr="image.png"/>
          <p:cNvPicPr/>
          <p:nvPr/>
        </p:nvPicPr>
        <p:blipFill rotWithShape="1">
          <a:blip r:embed="rId7">
            <a:alphaModFix/>
          </a:blip>
          <a:srcRect l="0" t="0" r="0" b="0"/>
          <a:stretch/>
        </p:blipFill>
        <p:spPr bwMode="auto">
          <a:xfrm>
            <a:off x="742950" y="336708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69883020" name="Google Shape;401;p20"/>
          <p:cNvSpPr txBox="1"/>
          <p:nvPr/>
        </p:nvSpPr>
        <p:spPr bwMode="auto">
          <a:xfrm>
            <a:off x="971550" y="2085975"/>
            <a:ext cx="10572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Integration Method</a:t>
            </a:r>
            <a:endParaRPr/>
          </a:p>
        </p:txBody>
      </p:sp>
      <p:sp>
        <p:nvSpPr>
          <p:cNvPr id="563749722" name="Google Shape;402;p20"/>
          <p:cNvSpPr txBox="1"/>
          <p:nvPr/>
        </p:nvSpPr>
        <p:spPr bwMode="auto">
          <a:xfrm>
            <a:off x="1009650" y="3324225"/>
            <a:ext cx="10534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Enrichment Workflow</a:t>
            </a:r>
            <a:endParaRPr/>
          </a:p>
        </p:txBody>
      </p:sp>
      <p:sp>
        <p:nvSpPr>
          <p:cNvPr id="736515043" name="Google Shape;403;p20"/>
          <p:cNvSpPr txBox="1"/>
          <p:nvPr/>
        </p:nvSpPr>
        <p:spPr bwMode="auto">
          <a:xfrm>
            <a:off x="1219200" y="5417343"/>
            <a:ext cx="779859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</a:rPr>
              <a:t>Key Result:</a:t>
            </a:r>
            <a:r>
              <a:rPr lang="en-US" sz="1150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</a:rPr>
              <a:t> The pipeline was event-driven rather than relying only on manual IOC lookups.</a:t>
            </a:r>
            <a:endParaRPr/>
          </a:p>
        </p:txBody>
      </p:sp>
      <p:sp>
        <p:nvSpPr>
          <p:cNvPr id="1847737818" name="Google Shape;404;p20"/>
          <p:cNvSpPr txBox="1"/>
          <p:nvPr/>
        </p:nvSpPr>
        <p:spPr bwMode="auto">
          <a:xfrm>
            <a:off x="819150" y="2486025"/>
            <a:ext cx="6477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GraphQL</a:t>
            </a:r>
            <a:endParaRPr/>
          </a:p>
        </p:txBody>
      </p:sp>
      <p:sp>
        <p:nvSpPr>
          <p:cNvPr id="1090610013" name="Google Shape;405;p20"/>
          <p:cNvSpPr txBox="1"/>
          <p:nvPr/>
        </p:nvSpPr>
        <p:spPr bwMode="auto">
          <a:xfrm>
            <a:off x="1666875" y="2486025"/>
            <a:ext cx="25527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Custom Wazuh–OpenCTI integration</a:t>
            </a:r>
            <a:endParaRPr/>
          </a:p>
        </p:txBody>
      </p:sp>
      <p:sp>
        <p:nvSpPr>
          <p:cNvPr id="1343999125" name="Google Shape;406;p20"/>
          <p:cNvSpPr txBox="1"/>
          <p:nvPr/>
        </p:nvSpPr>
        <p:spPr bwMode="auto">
          <a:xfrm>
            <a:off x="4419600" y="2486025"/>
            <a:ext cx="14859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Custom Wazuh rules</a:t>
            </a:r>
            <a:endParaRPr/>
          </a:p>
        </p:txBody>
      </p:sp>
      <p:sp>
        <p:nvSpPr>
          <p:cNvPr id="297177051" name="Google Shape;407;p20"/>
          <p:cNvSpPr txBox="1"/>
          <p:nvPr/>
        </p:nvSpPr>
        <p:spPr bwMode="auto">
          <a:xfrm>
            <a:off x="1131986" y="4107209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50" b="0" i="0" u="none" strike="noStrike" cap="none">
                <a:solidFill>
                  <a:srgbClr val="06B6D4"/>
                </a:solidFill>
                <a:latin typeface="JetBrains Mono"/>
                <a:ea typeface="JetBrains Mono"/>
                <a:cs typeface="JetBrains Mono"/>
              </a:rPr>
              <a:t>STEP 1</a:t>
            </a:r>
            <a:endParaRPr/>
          </a:p>
        </p:txBody>
      </p:sp>
      <p:sp>
        <p:nvSpPr>
          <p:cNvPr id="1243578706" name="Google Shape;408;p20"/>
          <p:cNvSpPr txBox="1"/>
          <p:nvPr/>
        </p:nvSpPr>
        <p:spPr bwMode="auto">
          <a:xfrm>
            <a:off x="765274" y="4297709"/>
            <a:ext cx="1419225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</a:rPr>
              <a:t>Wazuh detects event</a:t>
            </a:r>
            <a:endParaRPr/>
          </a:p>
        </p:txBody>
      </p:sp>
      <p:sp>
        <p:nvSpPr>
          <p:cNvPr id="351668587" name="Google Shape;409;p20"/>
          <p:cNvSpPr txBox="1"/>
          <p:nvPr/>
        </p:nvSpPr>
        <p:spPr bwMode="auto">
          <a:xfrm>
            <a:off x="2672357" y="4107209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50" b="0" i="0" u="none" strike="noStrike" cap="none">
                <a:solidFill>
                  <a:srgbClr val="06B6D4"/>
                </a:solidFill>
                <a:latin typeface="JetBrains Mono"/>
                <a:ea typeface="JetBrains Mono"/>
                <a:cs typeface="JetBrains Mono"/>
              </a:rPr>
              <a:t>STEP 2</a:t>
            </a:r>
            <a:endParaRPr/>
          </a:p>
        </p:txBody>
      </p:sp>
      <p:sp>
        <p:nvSpPr>
          <p:cNvPr id="613907969" name="Google Shape;410;p20"/>
          <p:cNvSpPr txBox="1"/>
          <p:nvPr/>
        </p:nvSpPr>
        <p:spPr bwMode="auto">
          <a:xfrm>
            <a:off x="2453282" y="4297709"/>
            <a:ext cx="1123950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</a:rPr>
              <a:t>IOC is identified</a:t>
            </a:r>
            <a:endParaRPr/>
          </a:p>
        </p:txBody>
      </p:sp>
      <p:sp>
        <p:nvSpPr>
          <p:cNvPr id="552129154" name="Google Shape;411;p20"/>
          <p:cNvSpPr txBox="1"/>
          <p:nvPr/>
        </p:nvSpPr>
        <p:spPr bwMode="auto">
          <a:xfrm>
            <a:off x="4212728" y="4107209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50" b="0" i="0" u="none" strike="noStrike" cap="none">
                <a:solidFill>
                  <a:srgbClr val="06B6D4"/>
                </a:solidFill>
                <a:latin typeface="JetBrains Mono"/>
                <a:ea typeface="JetBrains Mono"/>
                <a:cs typeface="JetBrains Mono"/>
              </a:rPr>
              <a:t>STEP 3</a:t>
            </a:r>
            <a:endParaRPr/>
          </a:p>
        </p:txBody>
      </p:sp>
      <p:sp>
        <p:nvSpPr>
          <p:cNvPr id="1039962432" name="Google Shape;412;p20"/>
          <p:cNvSpPr txBox="1"/>
          <p:nvPr/>
        </p:nvSpPr>
        <p:spPr bwMode="auto">
          <a:xfrm>
            <a:off x="3865065" y="4297709"/>
            <a:ext cx="1381125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</a:rPr>
              <a:t>IOC sent to OpenCTI</a:t>
            </a:r>
            <a:endParaRPr/>
          </a:p>
        </p:txBody>
      </p:sp>
      <p:sp>
        <p:nvSpPr>
          <p:cNvPr id="703529713" name="Google Shape;413;p20"/>
          <p:cNvSpPr txBox="1"/>
          <p:nvPr/>
        </p:nvSpPr>
        <p:spPr bwMode="auto">
          <a:xfrm>
            <a:off x="5752951" y="4107209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50" b="0" i="0" u="none" strike="noStrike" cap="none">
                <a:solidFill>
                  <a:srgbClr val="06B6D4"/>
                </a:solidFill>
                <a:latin typeface="JetBrains Mono"/>
                <a:ea typeface="JetBrains Mono"/>
                <a:cs typeface="JetBrains Mono"/>
              </a:rPr>
              <a:t>STEP 4</a:t>
            </a:r>
            <a:endParaRPr/>
          </a:p>
        </p:txBody>
      </p:sp>
      <p:sp>
        <p:nvSpPr>
          <p:cNvPr id="2122858079" name="Google Shape;414;p20"/>
          <p:cNvSpPr txBox="1"/>
          <p:nvPr/>
        </p:nvSpPr>
        <p:spPr bwMode="auto">
          <a:xfrm>
            <a:off x="5310038" y="4297709"/>
            <a:ext cx="1571625" cy="148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</a:rPr>
              <a:t>OpenCTI searches intel</a:t>
            </a:r>
            <a:endParaRPr/>
          </a:p>
        </p:txBody>
      </p:sp>
      <p:sp>
        <p:nvSpPr>
          <p:cNvPr id="1184284279" name="Google Shape;415;p20"/>
          <p:cNvSpPr txBox="1"/>
          <p:nvPr/>
        </p:nvSpPr>
        <p:spPr bwMode="auto">
          <a:xfrm>
            <a:off x="7293322" y="4032944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50" b="0" i="0" u="none" strike="noStrike" cap="none">
                <a:solidFill>
                  <a:srgbClr val="06B6D4"/>
                </a:solidFill>
                <a:latin typeface="JetBrains Mono"/>
                <a:ea typeface="JetBrains Mono"/>
                <a:cs typeface="JetBrains Mono"/>
              </a:rPr>
              <a:t>STEP 5</a:t>
            </a:r>
            <a:endParaRPr/>
          </a:p>
        </p:txBody>
      </p:sp>
      <p:sp>
        <p:nvSpPr>
          <p:cNvPr id="2081943890" name="Google Shape;416;p20"/>
          <p:cNvSpPr txBox="1"/>
          <p:nvPr/>
        </p:nvSpPr>
        <p:spPr bwMode="auto">
          <a:xfrm>
            <a:off x="6828271" y="4223444"/>
            <a:ext cx="1615901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</a:rPr>
              <a:t>Match / context returned</a:t>
            </a:r>
            <a:endParaRPr/>
          </a:p>
        </p:txBody>
      </p:sp>
      <p:sp>
        <p:nvSpPr>
          <p:cNvPr id="783937979" name="Google Shape;417;p20"/>
          <p:cNvSpPr txBox="1"/>
          <p:nvPr/>
        </p:nvSpPr>
        <p:spPr bwMode="auto">
          <a:xfrm>
            <a:off x="8833693" y="4032944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50" b="0" i="0" u="none" strike="noStrike" cap="none">
                <a:solidFill>
                  <a:srgbClr val="06B6D4"/>
                </a:solidFill>
                <a:latin typeface="JetBrains Mono"/>
                <a:ea typeface="JetBrains Mono"/>
                <a:cs typeface="JetBrains Mono"/>
              </a:rPr>
              <a:t>STEP 6</a:t>
            </a:r>
            <a:endParaRPr/>
          </a:p>
        </p:txBody>
      </p:sp>
      <p:sp>
        <p:nvSpPr>
          <p:cNvPr id="783447081" name="Google Shape;418;p20"/>
          <p:cNvSpPr txBox="1"/>
          <p:nvPr/>
        </p:nvSpPr>
        <p:spPr bwMode="auto">
          <a:xfrm>
            <a:off x="8368642" y="4223444"/>
            <a:ext cx="1615901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</a:rPr>
              <a:t>Wazuh generates enriched alert</a:t>
            </a:r>
            <a:endParaRPr/>
          </a:p>
        </p:txBody>
      </p:sp>
      <p:sp>
        <p:nvSpPr>
          <p:cNvPr id="2067150509" name="Google Shape;419;p20"/>
          <p:cNvSpPr txBox="1"/>
          <p:nvPr/>
        </p:nvSpPr>
        <p:spPr bwMode="auto">
          <a:xfrm>
            <a:off x="10373914" y="4032944"/>
            <a:ext cx="6858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50" b="0" i="0" u="none" strike="noStrike" cap="none">
                <a:solidFill>
                  <a:srgbClr val="06B6D4"/>
                </a:solidFill>
                <a:latin typeface="JetBrains Mono"/>
                <a:ea typeface="JetBrains Mono"/>
                <a:cs typeface="JetBrains Mono"/>
              </a:rPr>
              <a:t>STEP 7</a:t>
            </a:r>
            <a:endParaRPr/>
          </a:p>
        </p:txBody>
      </p:sp>
      <p:sp>
        <p:nvSpPr>
          <p:cNvPr id="1304411569" name="Google Shape;420;p20"/>
          <p:cNvSpPr txBox="1"/>
          <p:nvPr/>
        </p:nvSpPr>
        <p:spPr bwMode="auto">
          <a:xfrm>
            <a:off x="9909032" y="4223444"/>
            <a:ext cx="1615715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</a:rPr>
              <a:t>Analyst investigates alert</a:t>
            </a:r>
            <a:endParaRPr/>
          </a:p>
        </p:txBody>
      </p:sp>
      <p:pic>
        <p:nvPicPr>
          <p:cNvPr id="31289918" name="Google Shape;421;p20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2197447" y="4219575"/>
            <a:ext cx="76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7551046" name="Google Shape;422;p20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3737817" y="4219575"/>
            <a:ext cx="76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967177" name="Google Shape;423;p20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5278189" y="4219575"/>
            <a:ext cx="76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965676" name="Google Shape;424;p20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6818411" y="4219575"/>
            <a:ext cx="76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395992" name="Google Shape;425;p20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8358782" y="4219575"/>
            <a:ext cx="76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167869" name="Google Shape;426;p20" descr="image.png"/>
          <p:cNvPicPr/>
          <p:nvPr/>
        </p:nvPicPr>
        <p:blipFill rotWithShape="1">
          <a:blip r:embed="rId8">
            <a:alphaModFix/>
          </a:blip>
          <a:srcRect l="0" t="0" r="0" b="0"/>
          <a:stretch/>
        </p:blipFill>
        <p:spPr bwMode="auto">
          <a:xfrm>
            <a:off x="9899153" y="4219575"/>
            <a:ext cx="76200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6221733" name="Google Shape;431;p21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4365466" name="Google Shape;432;p21"/>
          <p:cNvSpPr/>
          <p:nvPr/>
        </p:nvSpPr>
        <p:spPr bwMode="auto">
          <a:xfrm>
            <a:off x="523875" y="1028700"/>
            <a:ext cx="11144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1655035" name="Google Shape;433;p21"/>
          <p:cNvSpPr/>
          <p:nvPr/>
        </p:nvSpPr>
        <p:spPr bwMode="auto">
          <a:xfrm>
            <a:off x="10715625" y="5334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0A2A3B"/>
          </a:solidFill>
          <a:ln w="9525" cap="flat" cmpd="sng">
            <a:solidFill>
              <a:srgbClr val="19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74794824" name="Google Shape;434;p21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23875" y="533400"/>
            <a:ext cx="24288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032237" name="Google Shape;435;p21"/>
          <p:cNvSpPr txBox="1"/>
          <p:nvPr/>
        </p:nvSpPr>
        <p:spPr bwMode="auto">
          <a:xfrm>
            <a:off x="881062" y="428625"/>
            <a:ext cx="1131093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Integration Validation</a:t>
            </a:r>
            <a:endParaRPr/>
          </a:p>
        </p:txBody>
      </p:sp>
      <p:sp>
        <p:nvSpPr>
          <p:cNvPr id="748405972" name="Google Shape;436;p21"/>
          <p:cNvSpPr txBox="1"/>
          <p:nvPr/>
        </p:nvSpPr>
        <p:spPr bwMode="auto">
          <a:xfrm>
            <a:off x="10810875" y="571500"/>
            <a:ext cx="857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TEST RESULTS</a:t>
            </a:r>
            <a:endParaRPr/>
          </a:p>
        </p:txBody>
      </p:sp>
      <p:sp>
        <p:nvSpPr>
          <p:cNvPr id="150067726" name="Google Shape;437;p21"/>
          <p:cNvSpPr/>
          <p:nvPr/>
        </p:nvSpPr>
        <p:spPr bwMode="auto">
          <a:xfrm>
            <a:off x="6461075" y="1276350"/>
            <a:ext cx="5207049" cy="5153024"/>
          </a:xfrm>
          <a:prstGeom prst="roundRect">
            <a:avLst>
              <a:gd name="adj" fmla="val 1848"/>
            </a:avLst>
          </a:prstGeom>
          <a:solidFill>
            <a:srgbClr val="0D1425"/>
          </a:solidFill>
          <a:ln w="19050" cap="flat" cmpd="sng">
            <a:solidFill>
              <a:srgbClr val="095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5634690" name="Google Shape;438;p21"/>
          <p:cNvSpPr/>
          <p:nvPr/>
        </p:nvSpPr>
        <p:spPr bwMode="auto">
          <a:xfrm>
            <a:off x="523875" y="1276350"/>
            <a:ext cx="5727650" cy="676275"/>
          </a:xfrm>
          <a:prstGeom prst="roundRect">
            <a:avLst>
              <a:gd name="adj" fmla="val 11267"/>
            </a:avLst>
          </a:prstGeom>
          <a:solidFill>
            <a:srgbClr val="0D1526"/>
          </a:solidFill>
          <a:ln w="9525" cap="flat" cmpd="sng">
            <a:solidFill>
              <a:srgbClr val="232E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9650483" name="Google Shape;439;p21"/>
          <p:cNvSpPr/>
          <p:nvPr/>
        </p:nvSpPr>
        <p:spPr bwMode="auto">
          <a:xfrm>
            <a:off x="523875" y="2066925"/>
            <a:ext cx="5727650" cy="866775"/>
          </a:xfrm>
          <a:prstGeom prst="roundRect">
            <a:avLst>
              <a:gd name="adj" fmla="val 8791"/>
            </a:avLst>
          </a:prstGeom>
          <a:solidFill>
            <a:srgbClr val="0D1526"/>
          </a:solidFill>
          <a:ln w="9525" cap="flat" cmpd="sng">
            <a:solidFill>
              <a:srgbClr val="232E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151174" name="Google Shape;440;p21"/>
          <p:cNvSpPr/>
          <p:nvPr/>
        </p:nvSpPr>
        <p:spPr bwMode="auto">
          <a:xfrm>
            <a:off x="523875" y="3048000"/>
            <a:ext cx="5727650" cy="1728787"/>
          </a:xfrm>
          <a:prstGeom prst="roundRect">
            <a:avLst>
              <a:gd name="adj" fmla="val 4407"/>
            </a:avLst>
          </a:prstGeom>
          <a:solidFill>
            <a:srgbClr val="0D1526"/>
          </a:solidFill>
          <a:ln w="9525" cap="flat" cmpd="sng">
            <a:solidFill>
              <a:srgbClr val="232E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9690992" name="Google Shape;441;p21"/>
          <p:cNvSpPr/>
          <p:nvPr/>
        </p:nvSpPr>
        <p:spPr bwMode="auto">
          <a:xfrm>
            <a:off x="523875" y="4891087"/>
            <a:ext cx="5727650" cy="619125"/>
          </a:xfrm>
          <a:prstGeom prst="roundRect">
            <a:avLst>
              <a:gd name="adj" fmla="val 15384"/>
            </a:avLst>
          </a:prstGeom>
          <a:solidFill>
            <a:srgbClr val="0E2238"/>
          </a:solidFill>
          <a:ln w="9525" cap="flat" cmpd="sng">
            <a:solidFill>
              <a:srgbClr val="0A4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9659203" name="Google Shape;442;p21"/>
          <p:cNvSpPr/>
          <p:nvPr/>
        </p:nvSpPr>
        <p:spPr bwMode="auto">
          <a:xfrm>
            <a:off x="5318075" y="1419225"/>
            <a:ext cx="752475" cy="171450"/>
          </a:xfrm>
          <a:prstGeom prst="roundRect">
            <a:avLst>
              <a:gd name="adj" fmla="val 22222"/>
            </a:avLst>
          </a:prstGeom>
          <a:solidFill>
            <a:srgbClr val="1E28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7654171" name="Google Shape;443;p21"/>
          <p:cNvSpPr/>
          <p:nvPr/>
        </p:nvSpPr>
        <p:spPr bwMode="auto">
          <a:xfrm>
            <a:off x="1000125" y="1609724"/>
            <a:ext cx="1162050" cy="238125"/>
          </a:xfrm>
          <a:prstGeom prst="roundRect">
            <a:avLst>
              <a:gd name="adj" fmla="val 16000"/>
            </a:avLst>
          </a:prstGeom>
          <a:solidFill>
            <a:srgbClr val="1B2537"/>
          </a:solidFill>
          <a:ln w="9525" cap="flat" cmpd="sng">
            <a:solidFill>
              <a:srgbClr val="3B1D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28101768" name="Google Shape;444;p21"/>
          <p:cNvSpPr/>
          <p:nvPr/>
        </p:nvSpPr>
        <p:spPr bwMode="auto">
          <a:xfrm>
            <a:off x="5184725" y="2209800"/>
            <a:ext cx="885825" cy="171450"/>
          </a:xfrm>
          <a:prstGeom prst="roundRect">
            <a:avLst>
              <a:gd name="adj" fmla="val 22222"/>
            </a:avLst>
          </a:prstGeom>
          <a:solidFill>
            <a:srgbClr val="0E36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9670383" name="Google Shape;445;p21"/>
          <p:cNvSpPr/>
          <p:nvPr/>
        </p:nvSpPr>
        <p:spPr bwMode="auto">
          <a:xfrm>
            <a:off x="1000125" y="2400300"/>
            <a:ext cx="1238250" cy="238125"/>
          </a:xfrm>
          <a:prstGeom prst="roundRect">
            <a:avLst>
              <a:gd name="adj" fmla="val 16000"/>
            </a:avLst>
          </a:prstGeom>
          <a:solidFill>
            <a:srgbClr val="1B2537"/>
          </a:solidFill>
          <a:ln w="9525" cap="flat" cmpd="sng">
            <a:solidFill>
              <a:srgbClr val="3B1D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0158232" name="Google Shape;446;p21"/>
          <p:cNvSpPr/>
          <p:nvPr/>
        </p:nvSpPr>
        <p:spPr bwMode="auto">
          <a:xfrm>
            <a:off x="4908500" y="3190875"/>
            <a:ext cx="1162050" cy="238125"/>
          </a:xfrm>
          <a:prstGeom prst="roundRect">
            <a:avLst>
              <a:gd name="adj" fmla="val 16000"/>
            </a:avLst>
          </a:prstGeom>
          <a:solidFill>
            <a:srgbClr val="1B2537"/>
          </a:solidFill>
          <a:ln w="9525" cap="flat" cmpd="sng">
            <a:solidFill>
              <a:srgbClr val="3B1D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4201839" name="Google Shape;447;p21"/>
          <p:cNvSpPr/>
          <p:nvPr/>
        </p:nvSpPr>
        <p:spPr bwMode="auto">
          <a:xfrm>
            <a:off x="1000125" y="3448050"/>
            <a:ext cx="1085850" cy="238125"/>
          </a:xfrm>
          <a:prstGeom prst="roundRect">
            <a:avLst>
              <a:gd name="adj" fmla="val 16000"/>
            </a:avLst>
          </a:prstGeom>
          <a:solidFill>
            <a:srgbClr val="1B2537"/>
          </a:solidFill>
          <a:ln w="9525" cap="flat" cmpd="sng">
            <a:solidFill>
              <a:srgbClr val="3B1D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726027056" name="Google Shape;448;p21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8893075" y="356711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30365" name="Google Shape;449;p21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685800" y="51054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9419305" name="Google Shape;450;p21"/>
          <p:cNvSpPr txBox="1"/>
          <p:nvPr/>
        </p:nvSpPr>
        <p:spPr bwMode="auto">
          <a:xfrm>
            <a:off x="7845325" y="3967162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[ INSERT DASHBOARD SCREENSHOTS ]</a:t>
            </a:r>
            <a:endParaRPr/>
          </a:p>
        </p:txBody>
      </p:sp>
      <p:sp>
        <p:nvSpPr>
          <p:cNvPr id="890470261" name="Google Shape;451;p21"/>
          <p:cNvSpPr txBox="1"/>
          <p:nvPr/>
        </p:nvSpPr>
        <p:spPr bwMode="auto">
          <a:xfrm>
            <a:off x="704850" y="1647825"/>
            <a:ext cx="67071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IOC:</a:t>
            </a:r>
            <a:endParaRPr/>
          </a:p>
        </p:txBody>
      </p:sp>
      <p:sp>
        <p:nvSpPr>
          <p:cNvPr id="1203162749" name="Google Shape;452;p21"/>
          <p:cNvSpPr txBox="1"/>
          <p:nvPr/>
        </p:nvSpPr>
        <p:spPr bwMode="auto">
          <a:xfrm>
            <a:off x="704850" y="2438400"/>
            <a:ext cx="67071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IOC:</a:t>
            </a:r>
            <a:endParaRPr/>
          </a:p>
        </p:txBody>
      </p:sp>
      <p:sp>
        <p:nvSpPr>
          <p:cNvPr id="425163856" name="Google Shape;453;p21"/>
          <p:cNvSpPr txBox="1"/>
          <p:nvPr/>
        </p:nvSpPr>
        <p:spPr bwMode="auto">
          <a:xfrm>
            <a:off x="704850" y="2647949"/>
            <a:ext cx="6707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Result: </a:t>
            </a:r>
            <a:r>
              <a:rPr lang="en-US" sz="9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1 match</a:t>
            </a:r>
            <a:r>
              <a:rPr lang="en-US" sz="9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 | Score: </a:t>
            </a:r>
            <a:r>
              <a:rPr lang="en-US" sz="9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80</a:t>
            </a:r>
            <a:r>
              <a:rPr lang="en-US" sz="9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 | </a:t>
            </a:r>
            <a:r>
              <a:rPr lang="en-US" sz="9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7 associated indicators</a:t>
            </a:r>
            <a:endParaRPr/>
          </a:p>
        </p:txBody>
      </p:sp>
      <p:sp>
        <p:nvSpPr>
          <p:cNvPr id="2043018416" name="Google Shape;454;p21"/>
          <p:cNvSpPr txBox="1"/>
          <p:nvPr/>
        </p:nvSpPr>
        <p:spPr bwMode="auto">
          <a:xfrm>
            <a:off x="704850" y="3486150"/>
            <a:ext cx="67071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IOC:</a:t>
            </a:r>
            <a:endParaRPr/>
          </a:p>
        </p:txBody>
      </p:sp>
      <p:sp>
        <p:nvSpPr>
          <p:cNvPr id="1938412496" name="Google Shape;455;p21"/>
          <p:cNvSpPr txBox="1"/>
          <p:nvPr/>
        </p:nvSpPr>
        <p:spPr bwMode="auto">
          <a:xfrm>
            <a:off x="1009650" y="5014912"/>
            <a:ext cx="51752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</a:rPr>
              <a:t>Key Finding:</a:t>
            </a:r>
            <a:r>
              <a:rPr lang="en-US" sz="1000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</a:rPr>
              <a:t> OpenCTI successfully added threat intelligence context to the existing Wazuh detection workflow.</a:t>
            </a:r>
            <a:endParaRPr/>
          </a:p>
        </p:txBody>
      </p:sp>
      <p:sp>
        <p:nvSpPr>
          <p:cNvPr id="445955002" name="Google Shape;456;p21"/>
          <p:cNvSpPr txBox="1"/>
          <p:nvPr/>
        </p:nvSpPr>
        <p:spPr bwMode="auto">
          <a:xfrm>
            <a:off x="704850" y="1423987"/>
            <a:ext cx="118109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Negative Test</a:t>
            </a:r>
            <a:endParaRPr/>
          </a:p>
        </p:txBody>
      </p:sp>
      <p:sp>
        <p:nvSpPr>
          <p:cNvPr id="671049715" name="Google Shape;457;p21"/>
          <p:cNvSpPr txBox="1"/>
          <p:nvPr/>
        </p:nvSpPr>
        <p:spPr bwMode="auto">
          <a:xfrm>
            <a:off x="5394275" y="1438275"/>
            <a:ext cx="6953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50" b="0" i="0" u="none" strike="noStrike" cap="none">
                <a:solidFill>
                  <a:srgbClr val="CBD5E1"/>
                </a:solidFill>
                <a:latin typeface="JetBrains Mono"/>
                <a:ea typeface="JetBrains Mono"/>
                <a:cs typeface="JetBrains Mono"/>
              </a:rPr>
              <a:t>0 MATCHES</a:t>
            </a:r>
            <a:endParaRPr/>
          </a:p>
        </p:txBody>
      </p:sp>
      <p:sp>
        <p:nvSpPr>
          <p:cNvPr id="894270700" name="Google Shape;458;p21"/>
          <p:cNvSpPr txBox="1"/>
          <p:nvPr/>
        </p:nvSpPr>
        <p:spPr bwMode="auto">
          <a:xfrm>
            <a:off x="1076325" y="1638300"/>
            <a:ext cx="11049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185.220.101.5</a:t>
            </a:r>
            <a:endParaRPr/>
          </a:p>
        </p:txBody>
      </p:sp>
      <p:sp>
        <p:nvSpPr>
          <p:cNvPr id="2092654492" name="Google Shape;459;p21"/>
          <p:cNvSpPr txBox="1"/>
          <p:nvPr/>
        </p:nvSpPr>
        <p:spPr bwMode="auto">
          <a:xfrm>
            <a:off x="704850" y="2214562"/>
            <a:ext cx="1123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Positive Test</a:t>
            </a:r>
            <a:endParaRPr/>
          </a:p>
        </p:txBody>
      </p:sp>
      <p:sp>
        <p:nvSpPr>
          <p:cNvPr id="1654724696" name="Google Shape;460;p21"/>
          <p:cNvSpPr txBox="1"/>
          <p:nvPr/>
        </p:nvSpPr>
        <p:spPr bwMode="auto">
          <a:xfrm>
            <a:off x="5260925" y="2228850"/>
            <a:ext cx="8286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850" b="0" i="0" u="none" strike="noStrike" cap="none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MATCH FOUND</a:t>
            </a:r>
            <a:endParaRPr/>
          </a:p>
        </p:txBody>
      </p:sp>
      <p:sp>
        <p:nvSpPr>
          <p:cNvPr id="1087449272" name="Google Shape;461;p21"/>
          <p:cNvSpPr txBox="1"/>
          <p:nvPr/>
        </p:nvSpPr>
        <p:spPr bwMode="auto">
          <a:xfrm>
            <a:off x="1076325" y="2428875"/>
            <a:ext cx="118109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37.187.150.121</a:t>
            </a:r>
            <a:endParaRPr/>
          </a:p>
        </p:txBody>
      </p:sp>
      <p:sp>
        <p:nvSpPr>
          <p:cNvPr id="1236879924" name="Google Shape;462;p21"/>
          <p:cNvSpPr txBox="1"/>
          <p:nvPr/>
        </p:nvSpPr>
        <p:spPr bwMode="auto">
          <a:xfrm>
            <a:off x="704850" y="3228975"/>
            <a:ext cx="17621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Live Brute-Force Test</a:t>
            </a:r>
            <a:endParaRPr/>
          </a:p>
        </p:txBody>
      </p:sp>
      <p:sp>
        <p:nvSpPr>
          <p:cNvPr id="446165285" name="Google Shape;463;p21"/>
          <p:cNvSpPr txBox="1"/>
          <p:nvPr/>
        </p:nvSpPr>
        <p:spPr bwMode="auto">
          <a:xfrm>
            <a:off x="4984700" y="3219449"/>
            <a:ext cx="11049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06B6D4"/>
                </a:solidFill>
                <a:latin typeface="JetBrains Mono"/>
                <a:ea typeface="JetBrains Mono"/>
                <a:cs typeface="JetBrains Mono"/>
              </a:rPr>
              <a:t>LIVE PIPELINE</a:t>
            </a:r>
            <a:endParaRPr/>
          </a:p>
        </p:txBody>
      </p:sp>
      <p:sp>
        <p:nvSpPr>
          <p:cNvPr id="1396743173" name="Google Shape;464;p21"/>
          <p:cNvSpPr txBox="1"/>
          <p:nvPr/>
        </p:nvSpPr>
        <p:spPr bwMode="auto">
          <a:xfrm>
            <a:off x="1076325" y="3476625"/>
            <a:ext cx="10287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175.41.16.98</a:t>
            </a:r>
            <a:endParaRPr/>
          </a:p>
        </p:txBody>
      </p:sp>
      <p:sp>
        <p:nvSpPr>
          <p:cNvPr id="260761507" name="Google Shape;465;p21"/>
          <p:cNvSpPr txBox="1"/>
          <p:nvPr/>
        </p:nvSpPr>
        <p:spPr bwMode="auto">
          <a:xfrm>
            <a:off x="914400" y="3705225"/>
            <a:ext cx="64975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Wazuh detected simulated activity</a:t>
            </a:r>
            <a:endParaRPr/>
          </a:p>
        </p:txBody>
      </p:sp>
      <p:sp>
        <p:nvSpPr>
          <p:cNvPr id="1321236078" name="Google Shape;466;p21"/>
          <p:cNvSpPr txBox="1"/>
          <p:nvPr/>
        </p:nvSpPr>
        <p:spPr bwMode="auto">
          <a:xfrm>
            <a:off x="914400" y="4014787"/>
            <a:ext cx="64975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OpenCTI processed IOC &amp; returned context</a:t>
            </a:r>
            <a:endParaRPr/>
          </a:p>
        </p:txBody>
      </p:sp>
      <p:sp>
        <p:nvSpPr>
          <p:cNvPr id="1209705570" name="Google Shape;467;p21"/>
          <p:cNvSpPr txBox="1"/>
          <p:nvPr/>
        </p:nvSpPr>
        <p:spPr bwMode="auto">
          <a:xfrm>
            <a:off x="914400" y="4324350"/>
            <a:ext cx="649757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Workflow was visible to the analyst</a:t>
            </a:r>
            <a:endParaRPr/>
          </a:p>
        </p:txBody>
      </p:sp>
      <p:sp>
        <p:nvSpPr>
          <p:cNvPr id="1025524521" name="Google Shape;468;p21"/>
          <p:cNvSpPr txBox="1"/>
          <p:nvPr/>
        </p:nvSpPr>
        <p:spPr bwMode="auto">
          <a:xfrm>
            <a:off x="704850" y="3705225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573088813" name="Google Shape;469;p21"/>
          <p:cNvSpPr txBox="1"/>
          <p:nvPr/>
        </p:nvSpPr>
        <p:spPr bwMode="auto">
          <a:xfrm>
            <a:off x="704850" y="4014787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581146208" name="Google Shape;470;p21"/>
          <p:cNvSpPr txBox="1"/>
          <p:nvPr/>
        </p:nvSpPr>
        <p:spPr bwMode="auto">
          <a:xfrm>
            <a:off x="704850" y="4324350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pic>
        <p:nvPicPr>
          <p:cNvPr id="425858710" name="Google Shape;471;p21"/>
          <p:cNvPicPr/>
          <p:nvPr/>
        </p:nvPicPr>
        <p:blipFill rotWithShape="1">
          <a:blip r:embed="rId7">
            <a:alphaModFix/>
          </a:blip>
          <a:srcRect l="40777" t="0" r="-861" b="0"/>
          <a:stretch/>
        </p:blipFill>
        <p:spPr bwMode="auto">
          <a:xfrm flipH="0" flipV="0">
            <a:off x="6420714" y="1220606"/>
            <a:ext cx="5630520" cy="5264510"/>
          </a:xfrm>
          <a:prstGeom prst="rect">
            <a:avLst/>
          </a:prstGeom>
          <a:solidFill>
            <a:srgbClr val="0D1425"/>
          </a:solidFill>
          <a:ln w="19050" cap="flat" cmpd="sng">
            <a:solidFill>
              <a:srgbClr val="09536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6171223" name="Google Shape;476;p22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1007619" name="Google Shape;477;p22"/>
          <p:cNvSpPr/>
          <p:nvPr/>
        </p:nvSpPr>
        <p:spPr bwMode="auto">
          <a:xfrm>
            <a:off x="523875" y="1028700"/>
            <a:ext cx="111442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4383423" name="Google Shape;478;p22"/>
          <p:cNvSpPr/>
          <p:nvPr/>
        </p:nvSpPr>
        <p:spPr bwMode="auto">
          <a:xfrm>
            <a:off x="10653712" y="533400"/>
            <a:ext cx="1014412" cy="247650"/>
          </a:xfrm>
          <a:prstGeom prst="roundRect">
            <a:avLst>
              <a:gd name="adj" fmla="val 50000"/>
            </a:avLst>
          </a:prstGeom>
          <a:solidFill>
            <a:srgbClr val="0A2A3B"/>
          </a:solidFill>
          <a:ln w="9525" cap="flat" cmpd="sng">
            <a:solidFill>
              <a:srgbClr val="1945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071804186" name="Google Shape;479;p22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523875" y="533400"/>
            <a:ext cx="30956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2413309" name="Google Shape;480;p22"/>
          <p:cNvSpPr txBox="1"/>
          <p:nvPr/>
        </p:nvSpPr>
        <p:spPr bwMode="auto">
          <a:xfrm>
            <a:off x="947737" y="428625"/>
            <a:ext cx="1124426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</a:rPr>
              <a:t>Lessons Learned &amp; Recommendations</a:t>
            </a:r>
            <a:endParaRPr/>
          </a:p>
        </p:txBody>
      </p:sp>
      <p:sp>
        <p:nvSpPr>
          <p:cNvPr id="1220203518" name="Google Shape;481;p22"/>
          <p:cNvSpPr txBox="1"/>
          <p:nvPr/>
        </p:nvSpPr>
        <p:spPr bwMode="auto">
          <a:xfrm>
            <a:off x="10748962" y="571500"/>
            <a:ext cx="91916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</a:rPr>
              <a:t>KEY TAKEAWAYS</a:t>
            </a:r>
            <a:endParaRPr/>
          </a:p>
        </p:txBody>
      </p:sp>
      <p:sp>
        <p:nvSpPr>
          <p:cNvPr id="1692238857" name="Google Shape;482;p22"/>
          <p:cNvSpPr/>
          <p:nvPr/>
        </p:nvSpPr>
        <p:spPr bwMode="auto">
          <a:xfrm>
            <a:off x="523875" y="1905000"/>
            <a:ext cx="5467350" cy="3895725"/>
          </a:xfrm>
          <a:prstGeom prst="roundRect">
            <a:avLst>
              <a:gd name="adj" fmla="val 2444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113688" name="Google Shape;483;p22"/>
          <p:cNvSpPr/>
          <p:nvPr/>
        </p:nvSpPr>
        <p:spPr bwMode="auto">
          <a:xfrm>
            <a:off x="6200775" y="1905000"/>
            <a:ext cx="5467350" cy="3895725"/>
          </a:xfrm>
          <a:prstGeom prst="roundRect">
            <a:avLst>
              <a:gd name="adj" fmla="val 2444"/>
            </a:avLst>
          </a:prstGeom>
          <a:solidFill>
            <a:srgbClr val="0E1628"/>
          </a:solidFill>
          <a:ln w="9525" cap="flat" cmpd="sng">
            <a:solidFill>
              <a:srgbClr val="2733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61970684" name="Google Shape;485;p22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742950" y="21669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9340959" name="Google Shape;486;p22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6419850" y="2166937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4831620" name="Google Shape;487;p22"/>
          <p:cNvSpPr txBox="1"/>
          <p:nvPr/>
        </p:nvSpPr>
        <p:spPr bwMode="auto">
          <a:xfrm>
            <a:off x="1009650" y="2124075"/>
            <a:ext cx="4857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Lessons Learned</a:t>
            </a:r>
            <a:endParaRPr/>
          </a:p>
        </p:txBody>
      </p:sp>
      <p:sp>
        <p:nvSpPr>
          <p:cNvPr id="193447810" name="Google Shape;488;p22"/>
          <p:cNvSpPr txBox="1"/>
          <p:nvPr/>
        </p:nvSpPr>
        <p:spPr bwMode="auto">
          <a:xfrm>
            <a:off x="6648450" y="2124075"/>
            <a:ext cx="48958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35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</a:rPr>
              <a:t>Recommendations</a:t>
            </a:r>
            <a:endParaRPr/>
          </a:p>
        </p:txBody>
      </p:sp>
      <p:sp>
        <p:nvSpPr>
          <p:cNvPr id="1443236964" name="Google Shape;489;p22"/>
          <p:cNvSpPr txBox="1"/>
          <p:nvPr/>
        </p:nvSpPr>
        <p:spPr bwMode="auto">
          <a:xfrm>
            <a:off x="742950" y="249555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Integration Troubleshooting</a:t>
            </a:r>
            <a:endParaRPr/>
          </a:p>
        </p:txBody>
      </p:sp>
      <p:sp>
        <p:nvSpPr>
          <p:cNvPr id="1343066328" name="Google Shape;490;p22"/>
          <p:cNvSpPr txBox="1"/>
          <p:nvPr/>
        </p:nvSpPr>
        <p:spPr bwMode="auto">
          <a:xfrm>
            <a:off x="742950" y="3943350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Monitoring &amp; Debugging</a:t>
            </a:r>
            <a:endParaRPr/>
          </a:p>
        </p:txBody>
      </p:sp>
      <p:sp>
        <p:nvSpPr>
          <p:cNvPr id="201206446" name="Google Shape;491;p22"/>
          <p:cNvSpPr txBox="1"/>
          <p:nvPr/>
        </p:nvSpPr>
        <p:spPr bwMode="auto">
          <a:xfrm>
            <a:off x="742950" y="4772025"/>
            <a:ext cx="6286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Resource Management</a:t>
            </a:r>
            <a:endParaRPr/>
          </a:p>
        </p:txBody>
      </p:sp>
      <p:sp>
        <p:nvSpPr>
          <p:cNvPr id="1434332768" name="Google Shape;492;p22"/>
          <p:cNvSpPr txBox="1"/>
          <p:nvPr/>
        </p:nvSpPr>
        <p:spPr bwMode="auto">
          <a:xfrm>
            <a:off x="6419850" y="2495550"/>
            <a:ext cx="57721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1. Protect Integration Credentials</a:t>
            </a:r>
            <a:endParaRPr/>
          </a:p>
        </p:txBody>
      </p:sp>
      <p:sp>
        <p:nvSpPr>
          <p:cNvPr id="406187128" name="Google Shape;493;p22"/>
          <p:cNvSpPr txBox="1"/>
          <p:nvPr/>
        </p:nvSpPr>
        <p:spPr bwMode="auto">
          <a:xfrm>
            <a:off x="6610350" y="2695575"/>
            <a:ext cx="4933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Secure API keys and tokens. Keep sensitive credentials out of shared configurations.</a:t>
            </a:r>
            <a:endParaRPr/>
          </a:p>
        </p:txBody>
      </p:sp>
      <p:sp>
        <p:nvSpPr>
          <p:cNvPr id="574910270" name="Google Shape;494;p22"/>
          <p:cNvSpPr txBox="1"/>
          <p:nvPr/>
        </p:nvSpPr>
        <p:spPr bwMode="auto">
          <a:xfrm>
            <a:off x="6419850" y="3133725"/>
            <a:ext cx="57721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2. Keep Alternative Threat Intel Sources</a:t>
            </a:r>
            <a:endParaRPr/>
          </a:p>
        </p:txBody>
      </p:sp>
      <p:sp>
        <p:nvSpPr>
          <p:cNvPr id="1821262064" name="Google Shape;495;p22"/>
          <p:cNvSpPr txBox="1"/>
          <p:nvPr/>
        </p:nvSpPr>
        <p:spPr bwMode="auto">
          <a:xfrm>
            <a:off x="6610350" y="3333750"/>
            <a:ext cx="558164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Maintain alternative feeds when a source becomes temporarily unavailable.</a:t>
            </a:r>
            <a:endParaRPr/>
          </a:p>
        </p:txBody>
      </p:sp>
      <p:sp>
        <p:nvSpPr>
          <p:cNvPr id="991629689" name="Google Shape;496;p22"/>
          <p:cNvSpPr txBox="1"/>
          <p:nvPr/>
        </p:nvSpPr>
        <p:spPr bwMode="auto">
          <a:xfrm>
            <a:off x="6419850" y="3619500"/>
            <a:ext cx="57721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3. Maintain Regular Connector Health Checks</a:t>
            </a:r>
            <a:endParaRPr/>
          </a:p>
        </p:txBody>
      </p:sp>
      <p:sp>
        <p:nvSpPr>
          <p:cNvPr id="702528984" name="Google Shape;497;p22"/>
          <p:cNvSpPr txBox="1"/>
          <p:nvPr/>
        </p:nvSpPr>
        <p:spPr bwMode="auto">
          <a:xfrm>
            <a:off x="6610350" y="3819525"/>
            <a:ext cx="5581649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0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Monitor feed ingestion continuously to identify connector failures early.</a:t>
            </a:r>
            <a:endParaRPr/>
          </a:p>
        </p:txBody>
      </p:sp>
      <p:sp>
        <p:nvSpPr>
          <p:cNvPr id="529033288" name="Google Shape;498;p22"/>
          <p:cNvSpPr txBox="1"/>
          <p:nvPr/>
        </p:nvSpPr>
        <p:spPr bwMode="auto">
          <a:xfrm>
            <a:off x="952499" y="2686050"/>
            <a:ext cx="6077669" cy="47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 spc="0">
                <a:solidFill>
                  <a:srgbClr val="CBD5E1"/>
                </a:solidFill>
                <a:latin typeface="Inter"/>
                <a:ea typeface="Inter"/>
                <a:cs typeface="Inter"/>
              </a:rPr>
              <a:t>MITRE ATT&amp;CK required troubleshooting before ingestion</a:t>
            </a:r>
            <a:endParaRPr sz="1150"/>
          </a:p>
          <a:p>
            <a:pPr>
              <a:defRPr/>
            </a:pPr>
            <a:endParaRPr/>
          </a:p>
        </p:txBody>
      </p:sp>
      <p:sp>
        <p:nvSpPr>
          <p:cNvPr id="715696168" name="Google Shape;499;p22"/>
          <p:cNvSpPr txBox="1"/>
          <p:nvPr/>
        </p:nvSpPr>
        <p:spPr bwMode="auto">
          <a:xfrm>
            <a:off x="952499" y="2995611"/>
            <a:ext cx="6077669" cy="47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 spc="0">
                <a:solidFill>
                  <a:srgbClr val="CBD5E1"/>
                </a:solidFill>
                <a:latin typeface="Inter"/>
                <a:ea typeface="Inter"/>
                <a:cs typeface="Inter"/>
              </a:rPr>
              <a:t>MalwareBazaar required OpenCTI service address correction</a:t>
            </a:r>
            <a:endParaRPr sz="1150"/>
          </a:p>
          <a:p>
            <a:pPr>
              <a:defRPr/>
            </a:pPr>
            <a:endParaRPr/>
          </a:p>
        </p:txBody>
      </p:sp>
      <p:sp>
        <p:nvSpPr>
          <p:cNvPr id="422127482" name="Google Shape;500;p22"/>
          <p:cNvSpPr txBox="1"/>
          <p:nvPr/>
        </p:nvSpPr>
        <p:spPr bwMode="auto">
          <a:xfrm>
            <a:off x="952499" y="3305174"/>
            <a:ext cx="6077669" cy="263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 spc="0">
                <a:solidFill>
                  <a:srgbClr val="CBD5E1"/>
                </a:solidFill>
                <a:latin typeface="Inter"/>
                <a:ea typeface="Inter"/>
                <a:cs typeface="Inter"/>
              </a:rPr>
              <a:t>AlienVault OTX replaced with ThreatFox due to connector issues</a:t>
            </a:r>
            <a:endParaRPr/>
          </a:p>
        </p:txBody>
      </p:sp>
      <p:sp>
        <p:nvSpPr>
          <p:cNvPr id="231865354" name="Google Shape;501;p22"/>
          <p:cNvSpPr txBox="1"/>
          <p:nvPr/>
        </p:nvSpPr>
        <p:spPr bwMode="auto">
          <a:xfrm>
            <a:off x="952499" y="3614736"/>
            <a:ext cx="6077309" cy="320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600482" name="Google Shape;502;p22"/>
          <p:cNvSpPr txBox="1"/>
          <p:nvPr/>
        </p:nvSpPr>
        <p:spPr bwMode="auto">
          <a:xfrm>
            <a:off x="947736" y="4133849"/>
            <a:ext cx="6079469" cy="263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Changing from</a:t>
            </a:r>
            <a:r>
              <a:rPr lang="en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150" b="0" i="0" u="none" strike="noStrike" cap="none" spc="0">
                <a:solidFill>
                  <a:srgbClr val="F43F5E"/>
                </a:solidFill>
                <a:latin typeface="JetBrains Mono"/>
                <a:ea typeface="JetBrains Mono"/>
                <a:cs typeface="JetBrains Mono"/>
              </a:rPr>
              <a:t>integrator.debug</a:t>
            </a:r>
            <a:r>
              <a:rPr lang="en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=</a:t>
            </a: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0 to 2 improved visibility</a:t>
            </a:r>
            <a:endParaRPr sz="1150"/>
          </a:p>
        </p:txBody>
      </p:sp>
      <p:sp>
        <p:nvSpPr>
          <p:cNvPr id="1731805241" name="Google Shape;503;p22"/>
          <p:cNvSpPr txBox="1"/>
          <p:nvPr/>
        </p:nvSpPr>
        <p:spPr bwMode="auto">
          <a:xfrm>
            <a:off x="952500" y="4443412"/>
            <a:ext cx="60769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Live event-driven processing successfully validated</a:t>
            </a:r>
            <a:endParaRPr/>
          </a:p>
        </p:txBody>
      </p:sp>
      <p:sp>
        <p:nvSpPr>
          <p:cNvPr id="36540974" name="Google Shape;504;p22"/>
          <p:cNvSpPr txBox="1"/>
          <p:nvPr/>
        </p:nvSpPr>
        <p:spPr bwMode="auto">
          <a:xfrm>
            <a:off x="952500" y="4962525"/>
            <a:ext cx="60769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Limited RAM affected lab; used Ubuntu as light agent</a:t>
            </a:r>
            <a:endParaRPr/>
          </a:p>
        </p:txBody>
      </p:sp>
      <p:sp>
        <p:nvSpPr>
          <p:cNvPr id="1967533468" name="Google Shape;505;p22"/>
          <p:cNvSpPr txBox="1"/>
          <p:nvPr/>
        </p:nvSpPr>
        <p:spPr bwMode="auto">
          <a:xfrm>
            <a:off x="952500" y="5272087"/>
            <a:ext cx="60769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OpenCTI container memory limits were applied</a:t>
            </a:r>
            <a:endParaRPr/>
          </a:p>
        </p:txBody>
      </p:sp>
      <p:sp>
        <p:nvSpPr>
          <p:cNvPr id="816085477" name="Google Shape;506;p22"/>
          <p:cNvSpPr txBox="1"/>
          <p:nvPr/>
        </p:nvSpPr>
        <p:spPr bwMode="auto">
          <a:xfrm>
            <a:off x="742950" y="2686050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568055553" name="Google Shape;507;p22"/>
          <p:cNvSpPr txBox="1"/>
          <p:nvPr/>
        </p:nvSpPr>
        <p:spPr bwMode="auto">
          <a:xfrm>
            <a:off x="742950" y="2995612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493326372" name="Google Shape;508;p22"/>
          <p:cNvSpPr txBox="1"/>
          <p:nvPr/>
        </p:nvSpPr>
        <p:spPr bwMode="auto">
          <a:xfrm>
            <a:off x="742950" y="3305175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991267917" name="Google Shape;510;p22"/>
          <p:cNvSpPr txBox="1"/>
          <p:nvPr/>
        </p:nvSpPr>
        <p:spPr bwMode="auto">
          <a:xfrm>
            <a:off x="742950" y="4133850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2119151615" name="Google Shape;511;p22"/>
          <p:cNvSpPr txBox="1"/>
          <p:nvPr/>
        </p:nvSpPr>
        <p:spPr bwMode="auto">
          <a:xfrm>
            <a:off x="3293628" y="3852862"/>
            <a:ext cx="1395771" cy="213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1024831816" name="Google Shape;512;p22"/>
          <p:cNvSpPr txBox="1"/>
          <p:nvPr/>
        </p:nvSpPr>
        <p:spPr bwMode="auto">
          <a:xfrm>
            <a:off x="742950" y="4443412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167449410" name="Google Shape;513;p22"/>
          <p:cNvSpPr txBox="1"/>
          <p:nvPr/>
        </p:nvSpPr>
        <p:spPr bwMode="auto">
          <a:xfrm>
            <a:off x="742950" y="4962525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  <p:sp>
        <p:nvSpPr>
          <p:cNvPr id="146663188" name="Google Shape;514;p22"/>
          <p:cNvSpPr txBox="1"/>
          <p:nvPr/>
        </p:nvSpPr>
        <p:spPr bwMode="auto">
          <a:xfrm>
            <a:off x="742950" y="5272087"/>
            <a:ext cx="66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▹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12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4932366" name="Google Shape;519;p23" descr="image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638299" name="Google Shape;520;p23"/>
          <p:cNvSpPr/>
          <p:nvPr/>
        </p:nvSpPr>
        <p:spPr bwMode="auto">
          <a:xfrm>
            <a:off x="3000375" y="2995612"/>
            <a:ext cx="6191250" cy="2314575"/>
          </a:xfrm>
          <a:prstGeom prst="roundRect">
            <a:avLst>
              <a:gd name="adj" fmla="val 4938"/>
            </a:avLst>
          </a:prstGeom>
          <a:solidFill>
            <a:srgbClr val="0E1629"/>
          </a:solidFill>
          <a:ln w="9525" cap="flat" cmpd="sng">
            <a:solidFill>
              <a:srgbClr val="2B37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3994782" name="Google Shape;521;p23"/>
          <p:cNvSpPr/>
          <p:nvPr/>
        </p:nvSpPr>
        <p:spPr bwMode="auto">
          <a:xfrm>
            <a:off x="3295650" y="3633787"/>
            <a:ext cx="56007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96094972" name="Google Shape;522;p23" descr="image.png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4286250" y="38338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161423" name="Google Shape;523;p23" descr="image.png"/>
          <p:cNvPicPr/>
          <p:nvPr/>
        </p:nvPicPr>
        <p:blipFill rotWithShape="1">
          <a:blip r:embed="rId5">
            <a:alphaModFix/>
          </a:blip>
          <a:srcRect l="0" t="0" r="0" b="0"/>
          <a:stretch/>
        </p:blipFill>
        <p:spPr bwMode="auto">
          <a:xfrm>
            <a:off x="4286250" y="42719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422785" name="Google Shape;524;p23" descr="image.png"/>
          <p:cNvPicPr/>
          <p:nvPr/>
        </p:nvPicPr>
        <p:blipFill rotWithShape="1">
          <a:blip r:embed="rId6">
            <a:alphaModFix/>
          </a:blip>
          <a:srcRect l="0" t="0" r="0" b="0"/>
          <a:stretch/>
        </p:blipFill>
        <p:spPr bwMode="auto">
          <a:xfrm>
            <a:off x="4286250" y="47101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424162" name="Google Shape;525;p23"/>
          <p:cNvSpPr txBox="1"/>
          <p:nvPr/>
        </p:nvSpPr>
        <p:spPr bwMode="auto">
          <a:xfrm>
            <a:off x="2032992" y="1547812"/>
            <a:ext cx="812601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THANK YOU!</a:t>
            </a:r>
            <a:endParaRPr/>
          </a:p>
        </p:txBody>
      </p:sp>
      <p:sp>
        <p:nvSpPr>
          <p:cNvPr id="492970638" name="Google Shape;526;p23"/>
          <p:cNvSpPr txBox="1"/>
          <p:nvPr/>
        </p:nvSpPr>
        <p:spPr bwMode="auto">
          <a:xfrm>
            <a:off x="2226468" y="2366962"/>
            <a:ext cx="77390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50" b="0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</a:rPr>
              <a:t>Any Questions?</a:t>
            </a:r>
            <a:endParaRPr/>
          </a:p>
        </p:txBody>
      </p:sp>
      <p:sp>
        <p:nvSpPr>
          <p:cNvPr id="351876484" name="Google Shape;527;p23"/>
          <p:cNvSpPr txBox="1"/>
          <p:nvPr/>
        </p:nvSpPr>
        <p:spPr bwMode="auto">
          <a:xfrm>
            <a:off x="2595562" y="3290887"/>
            <a:ext cx="70008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</a:rPr>
              <a:t>Ayomikun Ashogbon</a:t>
            </a:r>
            <a:endParaRPr/>
          </a:p>
        </p:txBody>
      </p:sp>
      <p:sp>
        <p:nvSpPr>
          <p:cNvPr id="303446106" name="Google Shape;528;p23"/>
          <p:cNvSpPr txBox="1"/>
          <p:nvPr/>
        </p:nvSpPr>
        <p:spPr bwMode="auto">
          <a:xfrm>
            <a:off x="4470796" y="3895725"/>
            <a:ext cx="253603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LinkedIn: Ayomikun Ashogbon</a:t>
            </a:r>
            <a:endParaRPr/>
          </a:p>
        </p:txBody>
      </p:sp>
      <p:sp>
        <p:nvSpPr>
          <p:cNvPr id="405089396" name="Google Shape;529;p23"/>
          <p:cNvSpPr txBox="1"/>
          <p:nvPr/>
        </p:nvSpPr>
        <p:spPr bwMode="auto">
          <a:xfrm>
            <a:off x="4470796" y="4333875"/>
            <a:ext cx="253603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Email: khayzed101@gmail.com</a:t>
            </a:r>
            <a:endParaRPr/>
          </a:p>
        </p:txBody>
      </p:sp>
      <p:sp>
        <p:nvSpPr>
          <p:cNvPr id="1217079748" name="Google Shape;530;p23"/>
          <p:cNvSpPr txBox="1"/>
          <p:nvPr/>
        </p:nvSpPr>
        <p:spPr bwMode="auto">
          <a:xfrm>
            <a:off x="4511278" y="4772025"/>
            <a:ext cx="213121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Phone: +234 7063612727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2026-10-01T23:37:42Z</dcterms:modified>
</cp:coreProperties>
</file>