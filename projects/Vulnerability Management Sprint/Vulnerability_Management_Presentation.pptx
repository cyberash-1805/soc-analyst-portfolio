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07212" name="Google Shape;3;n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1212923" name="Google Shape;4;n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4361906" name="Google Shape;81;p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53173686" name="Google Shape;82;p1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312273" name="Google Shape;95;p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61851575" name="Google Shape;96;p2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018449" name="Google Shape;122;p3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16376140" name="Google Shape;123;p3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8167878" name="Google Shape;132;p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40447894" name="Google Shape;133;p4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352068" name="Google Shape;154;p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11623028" name="Google Shape;155;p5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446529" name="Google Shape;170;p6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15896806" name="Google Shape;171;p6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459468" name="Google Shape;194;p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61146915" name="Google Shape;195;p7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451477" name="Google Shape;12;p2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28681619" name="Google Shape;13;p2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61858429" name="Google Shape;14;p2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905333" name="Google Shape;16;p3"/>
          <p:cNvSpPr txBox="1"/>
          <p:nvPr>
            <p:ph type="ctrTitle"/>
          </p:nvPr>
        </p:nvSpPr>
        <p:spPr bwMode="auto"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30184473" name="Google Shape;17;p3"/>
          <p:cNvSpPr txBox="1"/>
          <p:nvPr>
            <p:ph type="subTitle" idx="1"/>
          </p:nvPr>
        </p:nvSpPr>
        <p:spPr bwMode="auto">
          <a:xfrm>
            <a:off x="1371600" y="3886200"/>
            <a:ext cx="6400800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09208492" name="Google Shape;18;p3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9958367" name="Google Shape;19;p3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57054371" name="Google Shape;20;p3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437023" name="Google Shape;22;p4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03976075" name="Google Shape;23;p4"/>
          <p:cNvSpPr txBox="1"/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39078849" name="Google Shape;24;p4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18831048" name="Google Shape;25;p4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9585945" name="Google Shape;26;p4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470801" name="Google Shape;28;p5"/>
          <p:cNvSpPr txBox="1"/>
          <p:nvPr>
            <p:ph type="title"/>
          </p:nvPr>
        </p:nvSpPr>
        <p:spPr bwMode="auto"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96455247" name="Google Shape;29;p5"/>
          <p:cNvSpPr txBox="1"/>
          <p:nvPr>
            <p:ph type="body" idx="1"/>
          </p:nvPr>
        </p:nvSpPr>
        <p:spPr bwMode="auto"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0059535" name="Google Shape;30;p5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3761549" name="Google Shape;31;p5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00650093" name="Google Shape;32;p5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125913" name="Google Shape;34;p6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07683520" name="Google Shape;35;p6"/>
          <p:cNvSpPr txBox="1"/>
          <p:nvPr>
            <p:ph type="body" idx="1"/>
          </p:nvPr>
        </p:nvSpPr>
        <p:spPr bwMode="auto"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431284041" name="Google Shape;36;p6"/>
          <p:cNvSpPr txBox="1"/>
          <p:nvPr>
            <p:ph type="body" idx="2"/>
          </p:nvPr>
        </p:nvSpPr>
        <p:spPr bwMode="auto"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846381544" name="Google Shape;37;p6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38851102" name="Google Shape;38;p6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54857172" name="Google Shape;39;p6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ison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666427" name="Google Shape;41;p7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81057180" name="Google Shape;42;p7"/>
          <p:cNvSpPr txBox="1"/>
          <p:nvPr>
            <p:ph type="body" idx="1"/>
          </p:nvPr>
        </p:nvSpPr>
        <p:spPr bwMode="auto"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1176070821" name="Google Shape;43;p7"/>
          <p:cNvSpPr txBox="1"/>
          <p:nvPr>
            <p:ph type="body" idx="2"/>
          </p:nvPr>
        </p:nvSpPr>
        <p:spPr bwMode="auto"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473622739" name="Google Shape;44;p7"/>
          <p:cNvSpPr txBox="1"/>
          <p:nvPr>
            <p:ph type="body" idx="3"/>
          </p:nvPr>
        </p:nvSpPr>
        <p:spPr bwMode="auto"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599536867" name="Google Shape;45;p7"/>
          <p:cNvSpPr txBox="1"/>
          <p:nvPr>
            <p:ph type="body" idx="4"/>
          </p:nvPr>
        </p:nvSpPr>
        <p:spPr bwMode="auto"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352163890" name="Google Shape;46;p7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4353509" name="Google Shape;47;p7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6651273" name="Google Shape;48;p7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615892" name="Google Shape;50;p8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19446804" name="Google Shape;51;p8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9857909" name="Google Shape;52;p8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6246650" name="Google Shape;53;p8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 with Caption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020684" name="Google Shape;55;p9"/>
          <p:cNvSpPr txBox="1"/>
          <p:nvPr>
            <p:ph type="title"/>
          </p:nvPr>
        </p:nvSpPr>
        <p:spPr bwMode="auto"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9224217" name="Google Shape;56;p9"/>
          <p:cNvSpPr txBox="1"/>
          <p:nvPr>
            <p:ph type="body" idx="1"/>
          </p:nvPr>
        </p:nvSpPr>
        <p:spPr bwMode="auto"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608586830" name="Google Shape;57;p9"/>
          <p:cNvSpPr txBox="1"/>
          <p:nvPr>
            <p:ph type="body" idx="2"/>
          </p:nvPr>
        </p:nvSpPr>
        <p:spPr bwMode="auto"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2011976573" name="Google Shape;58;p9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16434930" name="Google Shape;59;p9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67528183" name="Google Shape;60;p9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icture with Caption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5202645" name="Google Shape;62;p10"/>
          <p:cNvSpPr txBox="1"/>
          <p:nvPr>
            <p:ph type="title"/>
          </p:nvPr>
        </p:nvSpPr>
        <p:spPr bwMode="auto"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47099414" name="Google Shape;63;p10"/>
          <p:cNvSpPr/>
          <p:nvPr>
            <p:ph type="pic" idx="2"/>
          </p:nvPr>
        </p:nvSpPr>
        <p:spPr bwMode="auto"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84986872" name="Google Shape;64;p10"/>
          <p:cNvSpPr txBox="1"/>
          <p:nvPr>
            <p:ph type="body" idx="1"/>
          </p:nvPr>
        </p:nvSpPr>
        <p:spPr bwMode="auto"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1699385610" name="Google Shape;65;p10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3547626" name="Google Shape;66;p10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51626099" name="Google Shape;67;p10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Vertical Text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225509" name="Google Shape;69;p11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4194783" name="Google Shape;70;p11"/>
          <p:cNvSpPr txBox="1"/>
          <p:nvPr>
            <p:ph type="body" idx="1"/>
          </p:nvPr>
        </p:nvSpPr>
        <p:spPr bwMode="auto"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29396044" name="Google Shape;71;p11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29014805" name="Google Shape;72;p11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4846813" name="Google Shape;73;p11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ertical Title and Text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695271" name="Google Shape;75;p12"/>
          <p:cNvSpPr txBox="1"/>
          <p:nvPr>
            <p:ph type="title"/>
          </p:nvPr>
        </p:nvSpPr>
        <p:spPr bwMode="auto"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2349476" name="Google Shape;76;p12"/>
          <p:cNvSpPr txBox="1"/>
          <p:nvPr>
            <p:ph type="body" idx="1"/>
          </p:nvPr>
        </p:nvSpPr>
        <p:spPr bwMode="auto"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13326803" name="Google Shape;77;p12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63625926" name="Google Shape;78;p12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73007122" name="Google Shape;79;p12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542473" name="Google Shape;6;p1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985606744" name="Google Shape;7;p1"/>
          <p:cNvSpPr txBox="1"/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799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88440097" name="Google Shape;8;p1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88377641" name="Google Shape;9;p1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144452932" name="Google Shape;10;p1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381968" name="Google Shape;84;p13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756919" name="Google Shape;85;p13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581025" y="2057995"/>
            <a:ext cx="290512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829651" name="Google Shape;86;p13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581025" y="4085629"/>
            <a:ext cx="1102995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9520676" name="Google Shape;87;p13"/>
          <p:cNvSpPr txBox="1"/>
          <p:nvPr/>
        </p:nvSpPr>
        <p:spPr bwMode="auto">
          <a:xfrm>
            <a:off x="581025" y="2619970"/>
            <a:ext cx="7172615" cy="635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350" b="0" i="0" u="none" strike="noStrike" cap="non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</a:rPr>
              <a:t>Vulnerability Management</a:t>
            </a:r>
            <a:endParaRPr/>
          </a:p>
        </p:txBody>
      </p:sp>
      <p:sp>
        <p:nvSpPr>
          <p:cNvPr id="12638143" name="Google Shape;88;p13"/>
          <p:cNvSpPr txBox="1"/>
          <p:nvPr/>
        </p:nvSpPr>
        <p:spPr bwMode="auto">
          <a:xfrm>
            <a:off x="581025" y="3369468"/>
            <a:ext cx="74866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Lab Vulnerability Detection, Risk Prioritization &amp; Remediation</a:t>
            </a:r>
            <a:endParaRPr/>
          </a:p>
        </p:txBody>
      </p:sp>
      <p:pic>
        <p:nvPicPr>
          <p:cNvPr id="1221120580" name="Google Shape;89;p13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742950" y="2158007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8629777" name="Google Shape;90;p13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581025" y="4323754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6810941" name="Google Shape;91;p13" descr="image.png"/>
          <p:cNvPicPr/>
          <p:nvPr/>
        </p:nvPicPr>
        <p:blipFill rotWithShape="1">
          <a:blip r:embed="rId8">
            <a:alphaModFix/>
          </a:blip>
          <a:srcRect l="0" t="0" r="0" b="0"/>
          <a:stretch/>
        </p:blipFill>
        <p:spPr bwMode="auto">
          <a:xfrm>
            <a:off x="700087" y="4466629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222415" name="Google Shape;92;p13"/>
          <p:cNvSpPr txBox="1"/>
          <p:nvPr/>
        </p:nvSpPr>
        <p:spPr bwMode="auto">
          <a:xfrm>
            <a:off x="1209675" y="4345632"/>
            <a:ext cx="2910363" cy="219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Ashogbon Ayomikun Abdulazeez</a:t>
            </a:r>
            <a:endParaRPr/>
          </a:p>
        </p:txBody>
      </p:sp>
      <p:sp>
        <p:nvSpPr>
          <p:cNvPr id="1096533396" name="Google Shape;93;p13"/>
          <p:cNvSpPr txBox="1"/>
          <p:nvPr/>
        </p:nvSpPr>
        <p:spPr bwMode="auto">
          <a:xfrm>
            <a:off x="1209675" y="4564707"/>
            <a:ext cx="27717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</a:rPr>
              <a:t>SOC Analyst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599650" name="Google Shape;98;p14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8812781" name="Google Shape;99;p14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581025" y="2292846"/>
            <a:ext cx="5372100" cy="2967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8074961" name="Google Shape;100;p14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6238875" y="2292846"/>
            <a:ext cx="5372100" cy="2967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257655" name="Google Shape;101;p14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581025" y="557212"/>
            <a:ext cx="263574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8957154" name="Google Shape;102;p14"/>
          <p:cNvSpPr txBox="1"/>
          <p:nvPr/>
        </p:nvSpPr>
        <p:spPr bwMode="auto">
          <a:xfrm>
            <a:off x="1257300" y="2607171"/>
            <a:ext cx="46005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</a:rPr>
              <a:t>Environment &amp; Scope</a:t>
            </a:r>
            <a:endParaRPr/>
          </a:p>
        </p:txBody>
      </p:sp>
      <p:sp>
        <p:nvSpPr>
          <p:cNvPr id="2066319161" name="Google Shape;103;p14"/>
          <p:cNvSpPr txBox="1"/>
          <p:nvPr/>
        </p:nvSpPr>
        <p:spPr bwMode="auto">
          <a:xfrm>
            <a:off x="895350" y="2988171"/>
            <a:ext cx="47434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Assessed two dedicated lab endpoints to identify, analyze, and handle security vulnerabilities:</a:t>
            </a:r>
            <a:endParaRPr/>
          </a:p>
        </p:txBody>
      </p:sp>
      <p:sp>
        <p:nvSpPr>
          <p:cNvPr id="573949201" name="Google Shape;104;p14"/>
          <p:cNvSpPr txBox="1"/>
          <p:nvPr/>
        </p:nvSpPr>
        <p:spPr bwMode="auto">
          <a:xfrm>
            <a:off x="6858000" y="2607171"/>
            <a:ext cx="466058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</a:rPr>
              <a:t>Key Objectives</a:t>
            </a:r>
            <a:endParaRPr/>
          </a:p>
        </p:txBody>
      </p:sp>
      <p:sp>
        <p:nvSpPr>
          <p:cNvPr id="138815903" name="Google Shape;105;p14"/>
          <p:cNvSpPr txBox="1"/>
          <p:nvPr/>
        </p:nvSpPr>
        <p:spPr bwMode="auto">
          <a:xfrm>
            <a:off x="6553200" y="2988171"/>
            <a:ext cx="47434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Identify, prioritize, and reduce vulnerability risk.</a:t>
            </a:r>
            <a:endParaRPr/>
          </a:p>
        </p:txBody>
      </p:sp>
      <p:pic>
        <p:nvPicPr>
          <p:cNvPr id="1933259564" name="Google Shape;106;p14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895350" y="2635746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6680145" name="Google Shape;107;p14"/>
          <p:cNvSpPr txBox="1"/>
          <p:nvPr/>
        </p:nvSpPr>
        <p:spPr bwMode="auto">
          <a:xfrm>
            <a:off x="1123950" y="3628132"/>
            <a:ext cx="45148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Windows Endpoint: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 Domain-facing asset (High Criticality).</a:t>
            </a:r>
            <a:endParaRPr/>
          </a:p>
        </p:txBody>
      </p:sp>
      <p:sp>
        <p:nvSpPr>
          <p:cNvPr id="2113893708" name="Google Shape;108;p14"/>
          <p:cNvSpPr txBox="1"/>
          <p:nvPr/>
        </p:nvSpPr>
        <p:spPr bwMode="auto">
          <a:xfrm>
            <a:off x="1123950" y="3986211"/>
            <a:ext cx="45148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Ubuntu / Linux Endpoint: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 Internal server asset.</a:t>
            </a:r>
            <a:endParaRPr/>
          </a:p>
        </p:txBody>
      </p:sp>
      <p:sp>
        <p:nvSpPr>
          <p:cNvPr id="651609569" name="Google Shape;109;p14"/>
          <p:cNvSpPr txBox="1"/>
          <p:nvPr/>
        </p:nvSpPr>
        <p:spPr bwMode="auto">
          <a:xfrm>
            <a:off x="1123950" y="4344292"/>
            <a:ext cx="45148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Wazuh Integration: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 Configured Vulnerability Detection and Syscollector module.</a:t>
            </a:r>
            <a:endParaRPr/>
          </a:p>
        </p:txBody>
      </p:sp>
      <p:pic>
        <p:nvPicPr>
          <p:cNvPr id="1917690622" name="Google Shape;110;p14" descr="image.png"/>
          <p:cNvPicPr/>
          <p:nvPr/>
        </p:nvPicPr>
        <p:blipFill rotWithShape="1">
          <a:blip r:embed="rId8">
            <a:alphaModFix/>
          </a:blip>
          <a:srcRect l="0" t="0" r="0" b="0"/>
          <a:stretch/>
        </p:blipFill>
        <p:spPr bwMode="auto">
          <a:xfrm>
            <a:off x="6553200" y="2635746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82631125" name="Google Shape;111;p14"/>
          <p:cNvSpPr txBox="1"/>
          <p:nvPr/>
        </p:nvSpPr>
        <p:spPr bwMode="auto">
          <a:xfrm>
            <a:off x="6781800" y="3384351"/>
            <a:ext cx="45148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Build a vulnerability inventory across OS and packages.</a:t>
            </a:r>
            <a:endParaRPr/>
          </a:p>
        </p:txBody>
      </p:sp>
      <p:sp>
        <p:nvSpPr>
          <p:cNvPr id="692373274" name="Google Shape;112;p14"/>
          <p:cNvSpPr txBox="1"/>
          <p:nvPr/>
        </p:nvSpPr>
        <p:spPr bwMode="auto">
          <a:xfrm>
            <a:off x="6781800" y="3986211"/>
            <a:ext cx="45148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Evaluate findings using CVSS, CISA KEV, and asset criticality.</a:t>
            </a:r>
            <a:endParaRPr/>
          </a:p>
        </p:txBody>
      </p:sp>
      <p:sp>
        <p:nvSpPr>
          <p:cNvPr id="1932040464" name="Google Shape;113;p14"/>
          <p:cNvSpPr txBox="1"/>
          <p:nvPr/>
        </p:nvSpPr>
        <p:spPr bwMode="auto">
          <a:xfrm>
            <a:off x="6781800" y="4588073"/>
            <a:ext cx="45148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Mitigate a high-priority vulnerability.</a:t>
            </a:r>
            <a:endParaRPr/>
          </a:p>
        </p:txBody>
      </p:sp>
      <p:sp>
        <p:nvSpPr>
          <p:cNvPr id="1954595340" name="Google Shape;114;p14"/>
          <p:cNvSpPr txBox="1"/>
          <p:nvPr/>
        </p:nvSpPr>
        <p:spPr bwMode="auto">
          <a:xfrm>
            <a:off x="971550" y="360908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</a:rPr>
              <a:t>•</a:t>
            </a:r>
            <a:endParaRPr/>
          </a:p>
        </p:txBody>
      </p:sp>
      <p:sp>
        <p:nvSpPr>
          <p:cNvPr id="1247825485" name="Google Shape;115;p14"/>
          <p:cNvSpPr txBox="1"/>
          <p:nvPr/>
        </p:nvSpPr>
        <p:spPr bwMode="auto">
          <a:xfrm>
            <a:off x="971550" y="39671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</a:rPr>
              <a:t>•</a:t>
            </a:r>
            <a:endParaRPr/>
          </a:p>
        </p:txBody>
      </p:sp>
      <p:sp>
        <p:nvSpPr>
          <p:cNvPr id="1184654789" name="Google Shape;116;p14"/>
          <p:cNvSpPr txBox="1"/>
          <p:nvPr/>
        </p:nvSpPr>
        <p:spPr bwMode="auto">
          <a:xfrm>
            <a:off x="971550" y="432524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</a:rPr>
              <a:t>•</a:t>
            </a:r>
            <a:endParaRPr/>
          </a:p>
        </p:txBody>
      </p:sp>
      <p:sp>
        <p:nvSpPr>
          <p:cNvPr id="771872750" name="Google Shape;117;p14"/>
          <p:cNvSpPr txBox="1"/>
          <p:nvPr/>
        </p:nvSpPr>
        <p:spPr bwMode="auto">
          <a:xfrm>
            <a:off x="6629400" y="336530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</a:rPr>
              <a:t>•</a:t>
            </a:r>
            <a:endParaRPr/>
          </a:p>
        </p:txBody>
      </p:sp>
      <p:sp>
        <p:nvSpPr>
          <p:cNvPr id="171046900" name="Google Shape;118;p14"/>
          <p:cNvSpPr txBox="1"/>
          <p:nvPr/>
        </p:nvSpPr>
        <p:spPr bwMode="auto">
          <a:xfrm>
            <a:off x="6629400" y="39671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</a:rPr>
              <a:t>•</a:t>
            </a:r>
            <a:endParaRPr/>
          </a:p>
        </p:txBody>
      </p:sp>
      <p:sp>
        <p:nvSpPr>
          <p:cNvPr id="191544456" name="Google Shape;119;p14"/>
          <p:cNvSpPr txBox="1"/>
          <p:nvPr/>
        </p:nvSpPr>
        <p:spPr bwMode="auto">
          <a:xfrm>
            <a:off x="6629400" y="4569023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</a:rPr>
              <a:t>•</a:t>
            </a:r>
            <a:endParaRPr/>
          </a:p>
        </p:txBody>
      </p:sp>
      <p:sp>
        <p:nvSpPr>
          <p:cNvPr id="1970245709" name="Google Shape;120;p14"/>
          <p:cNvSpPr txBox="1"/>
          <p:nvPr/>
        </p:nvSpPr>
        <p:spPr bwMode="auto">
          <a:xfrm>
            <a:off x="958899" y="485775"/>
            <a:ext cx="11184679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Project Overview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0919069" name="Google Shape;125;p15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0548738" name="Google Shape;126;p15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581025" y="4810125"/>
            <a:ext cx="1102995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523759" name="Google Shape;127;p15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581025" y="1181099"/>
            <a:ext cx="11029950" cy="519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2848030" name="Google Shape;128;p15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581025" y="557212"/>
            <a:ext cx="234999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9015553" name="Google Shape;129;p15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2095500" y="4972050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689702129" name="Google Shape;130;p15"/>
          <p:cNvSpPr txBox="1"/>
          <p:nvPr/>
        </p:nvSpPr>
        <p:spPr bwMode="auto">
          <a:xfrm>
            <a:off x="930324" y="485775"/>
            <a:ext cx="1121468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Assessment Results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2647736" name="Google Shape;135;p16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8077559" name="Google Shape;136;p16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581025" y="2601366"/>
            <a:ext cx="3524250" cy="2350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8479841" name="Google Shape;137;p16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4333875" y="2601366"/>
            <a:ext cx="3524250" cy="2350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712465" name="Google Shape;138;p16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8086725" y="2601366"/>
            <a:ext cx="3524250" cy="2350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039761" name="Google Shape;139;p16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581025" y="557212"/>
            <a:ext cx="263574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4635320" name="Google Shape;140;p16" descr="image.png"/>
          <p:cNvPicPr/>
          <p:nvPr/>
        </p:nvPicPr>
        <p:blipFill rotWithShape="1">
          <a:blip r:embed="rId8">
            <a:alphaModFix/>
          </a:blip>
          <a:srcRect l="0" t="0" r="0" b="0"/>
          <a:stretch/>
        </p:blipFill>
        <p:spPr bwMode="auto">
          <a:xfrm>
            <a:off x="857250" y="2877591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349001" name="Google Shape;141;p16"/>
          <p:cNvSpPr txBox="1"/>
          <p:nvPr/>
        </p:nvSpPr>
        <p:spPr bwMode="auto">
          <a:xfrm>
            <a:off x="857250" y="3563391"/>
            <a:ext cx="312039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1. CVSS Severity</a:t>
            </a:r>
            <a:endParaRPr/>
          </a:p>
        </p:txBody>
      </p:sp>
      <p:sp>
        <p:nvSpPr>
          <p:cNvPr id="955681682" name="Google Shape;142;p16"/>
          <p:cNvSpPr txBox="1"/>
          <p:nvPr/>
        </p:nvSpPr>
        <p:spPr bwMode="auto">
          <a:xfrm>
            <a:off x="857250" y="3944391"/>
            <a:ext cx="29718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Shows how serious the vulnerability is.</a:t>
            </a:r>
            <a:endParaRPr/>
          </a:p>
        </p:txBody>
      </p:sp>
      <p:pic>
        <p:nvPicPr>
          <p:cNvPr id="1521228482" name="Google Shape;143;p16" descr="image.png"/>
          <p:cNvPicPr/>
          <p:nvPr/>
        </p:nvPicPr>
        <p:blipFill rotWithShape="1">
          <a:blip r:embed="rId9">
            <a:alphaModFix/>
          </a:blip>
          <a:srcRect l="0" t="0" r="0" b="0"/>
          <a:stretch/>
        </p:blipFill>
        <p:spPr bwMode="auto">
          <a:xfrm>
            <a:off x="4610100" y="2877591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851867" name="Google Shape;144;p16"/>
          <p:cNvSpPr txBox="1"/>
          <p:nvPr/>
        </p:nvSpPr>
        <p:spPr bwMode="auto">
          <a:xfrm>
            <a:off x="4610100" y="3563391"/>
            <a:ext cx="312039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2. CISA KEV Catalog</a:t>
            </a:r>
            <a:endParaRPr/>
          </a:p>
        </p:txBody>
      </p:sp>
      <p:sp>
        <p:nvSpPr>
          <p:cNvPr id="129480910" name="Google Shape;145;p16"/>
          <p:cNvSpPr txBox="1"/>
          <p:nvPr/>
        </p:nvSpPr>
        <p:spPr bwMode="auto">
          <a:xfrm>
            <a:off x="4610100" y="3944391"/>
            <a:ext cx="29718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Checks if the vulnerability is known to be exploited.</a:t>
            </a:r>
            <a:endParaRPr/>
          </a:p>
        </p:txBody>
      </p:sp>
      <p:pic>
        <p:nvPicPr>
          <p:cNvPr id="891743896" name="Google Shape;146;p16" descr="image.png"/>
          <p:cNvPicPr/>
          <p:nvPr/>
        </p:nvPicPr>
        <p:blipFill rotWithShape="1">
          <a:blip r:embed="rId10">
            <a:alphaModFix/>
          </a:blip>
          <a:srcRect l="0" t="0" r="0" b="0"/>
          <a:stretch/>
        </p:blipFill>
        <p:spPr bwMode="auto">
          <a:xfrm>
            <a:off x="8362950" y="2877591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506262" name="Google Shape;147;p16"/>
          <p:cNvSpPr txBox="1"/>
          <p:nvPr/>
        </p:nvSpPr>
        <p:spPr bwMode="auto">
          <a:xfrm>
            <a:off x="8362950" y="3563391"/>
            <a:ext cx="312039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3. Asset Criticality</a:t>
            </a:r>
            <a:endParaRPr/>
          </a:p>
        </p:txBody>
      </p:sp>
      <p:sp>
        <p:nvSpPr>
          <p:cNvPr id="263121657" name="Google Shape;148;p16"/>
          <p:cNvSpPr txBox="1"/>
          <p:nvPr/>
        </p:nvSpPr>
        <p:spPr bwMode="auto">
          <a:xfrm>
            <a:off x="8362950" y="3944391"/>
            <a:ext cx="29718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Checks how important the affected system is.</a:t>
            </a:r>
            <a:endParaRPr/>
          </a:p>
        </p:txBody>
      </p:sp>
      <p:pic>
        <p:nvPicPr>
          <p:cNvPr id="692824585" name="Google Shape;149;p16" descr="image.png"/>
          <p:cNvPicPr/>
          <p:nvPr/>
        </p:nvPicPr>
        <p:blipFill rotWithShape="1">
          <a:blip r:embed="rId11">
            <a:alphaModFix/>
          </a:blip>
          <a:srcRect l="0" t="0" r="0" b="0"/>
          <a:stretch/>
        </p:blipFill>
        <p:spPr bwMode="auto">
          <a:xfrm>
            <a:off x="971550" y="2991891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3707659" name="Google Shape;150;p16" descr="image.png"/>
          <p:cNvPicPr/>
          <p:nvPr/>
        </p:nvPicPr>
        <p:blipFill rotWithShape="1">
          <a:blip r:embed="rId12">
            <a:alphaModFix/>
          </a:blip>
          <a:srcRect l="0" t="0" r="0" b="0"/>
          <a:stretch/>
        </p:blipFill>
        <p:spPr bwMode="auto">
          <a:xfrm>
            <a:off x="4743450" y="2991891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1349679" name="Google Shape;151;p16" descr="image.png"/>
          <p:cNvPicPr/>
          <p:nvPr/>
        </p:nvPicPr>
        <p:blipFill rotWithShape="1">
          <a:blip r:embed="rId13">
            <a:alphaModFix/>
          </a:blip>
          <a:srcRect l="0" t="0" r="0" b="0"/>
          <a:stretch/>
        </p:blipFill>
        <p:spPr bwMode="auto">
          <a:xfrm>
            <a:off x="8477250" y="2991891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5476656" name="Google Shape;152;p16"/>
          <p:cNvSpPr txBox="1"/>
          <p:nvPr/>
        </p:nvSpPr>
        <p:spPr bwMode="auto">
          <a:xfrm>
            <a:off x="958899" y="485775"/>
            <a:ext cx="11184679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Methodology &amp; Prioritization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911838" name="TextBox 156"/>
          <p:cNvSpPr txBox="1"/>
          <p:nvPr/>
        </p:nvSpPr>
        <p:spPr bwMode="auto">
          <a:xfrm>
            <a:off x="594360" y="320040"/>
            <a:ext cx="10974958" cy="480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5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Key Findings &amp; P1 Decision</a:t>
            </a:r>
            <a:endParaRPr sz="2550">
              <a:latin typeface="Plus Jakarta Sans"/>
              <a:cs typeface="Plus Jakarta Sans"/>
            </a:endParaRPr>
          </a:p>
        </p:txBody>
      </p:sp>
      <p:sp>
        <p:nvSpPr>
          <p:cNvPr id="1930210105" name="TextBox 157"/>
          <p:cNvSpPr txBox="1"/>
          <p:nvPr/>
        </p:nvSpPr>
        <p:spPr bwMode="auto">
          <a:xfrm>
            <a:off x="612648" y="8229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800" b="1">
                <a:solidFill>
                  <a:srgbClr val="63D8FF"/>
                </a:solidFill>
              </a:rPr>
              <a:t>P1 Finding: CVE-2026-33824 (IKEEXT)</a:t>
            </a:r>
            <a:endParaRPr/>
          </a:p>
        </p:txBody>
      </p:sp>
      <p:sp>
        <p:nvSpPr>
          <p:cNvPr id="734938669" name="Rounded Rectangle 158"/>
          <p:cNvSpPr/>
          <p:nvPr/>
        </p:nvSpPr>
        <p:spPr bwMode="auto">
          <a:xfrm>
            <a:off x="640080" y="1325880"/>
            <a:ext cx="5257800" cy="4251960"/>
          </a:xfrm>
          <a:prstGeom prst="roundRect">
            <a:avLst>
              <a:gd name="adj" fmla="val 16667"/>
            </a:avLst>
          </a:prstGeom>
          <a:solidFill>
            <a:srgbClr val="1B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3213986" name="TextBox 159"/>
          <p:cNvSpPr txBox="1"/>
          <p:nvPr/>
        </p:nvSpPr>
        <p:spPr bwMode="auto">
          <a:xfrm>
            <a:off x="960120" y="16276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700" b="1">
                <a:solidFill>
                  <a:srgbClr val="63D8FF"/>
                </a:solidFill>
              </a:rPr>
              <a:t>CVE-2026-33824</a:t>
            </a:r>
            <a:endParaRPr/>
          </a:p>
        </p:txBody>
      </p:sp>
      <p:sp>
        <p:nvSpPr>
          <p:cNvPr id="23568922" name="TextBox 160"/>
          <p:cNvSpPr txBox="1"/>
          <p:nvPr/>
        </p:nvSpPr>
        <p:spPr bwMode="auto">
          <a:xfrm>
            <a:off x="960120" y="2176272"/>
            <a:ext cx="4572360" cy="396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0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Windows IKE Extension (IKEEXT)</a:t>
            </a:r>
            <a:endParaRPr>
              <a:latin typeface="Plus Jakarta Sans"/>
              <a:cs typeface="Plus Jakarta Sans"/>
            </a:endParaRPr>
          </a:p>
        </p:txBody>
      </p:sp>
      <p:sp>
        <p:nvSpPr>
          <p:cNvPr id="17281714" name="TextBox 161"/>
          <p:cNvSpPr txBox="1"/>
          <p:nvPr/>
        </p:nvSpPr>
        <p:spPr bwMode="auto">
          <a:xfrm>
            <a:off x="960120" y="28163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>
                <a:solidFill>
                  <a:srgbClr val="B9C0CC"/>
                </a:solidFill>
              </a:rPr>
              <a:t>Severity</a:t>
            </a:r>
            <a:endParaRPr/>
          </a:p>
        </p:txBody>
      </p:sp>
      <p:sp>
        <p:nvSpPr>
          <p:cNvPr id="827344402" name="TextBox 162"/>
          <p:cNvSpPr txBox="1"/>
          <p:nvPr/>
        </p:nvSpPr>
        <p:spPr bwMode="auto">
          <a:xfrm>
            <a:off x="1965960" y="2770632"/>
            <a:ext cx="2195639" cy="343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CRITICAL</a:t>
            </a:r>
            <a:endParaRPr sz="1650"/>
          </a:p>
        </p:txBody>
      </p:sp>
      <p:sp>
        <p:nvSpPr>
          <p:cNvPr id="301792819" name="TextBox 163"/>
          <p:cNvSpPr txBox="1"/>
          <p:nvPr/>
        </p:nvSpPr>
        <p:spPr bwMode="auto">
          <a:xfrm>
            <a:off x="960120" y="3337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>
                <a:solidFill>
                  <a:srgbClr val="B9C0CC"/>
                </a:solidFill>
              </a:rPr>
              <a:t>Status</a:t>
            </a:r>
            <a:endParaRPr/>
          </a:p>
        </p:txBody>
      </p:sp>
      <p:sp>
        <p:nvSpPr>
          <p:cNvPr id="396880222" name="TextBox 164"/>
          <p:cNvSpPr txBox="1"/>
          <p:nvPr/>
        </p:nvSpPr>
        <p:spPr bwMode="auto">
          <a:xfrm>
            <a:off x="1965960" y="3291840"/>
            <a:ext cx="2927160" cy="343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CISA KEV Listed</a:t>
            </a:r>
            <a:endParaRPr sz="1650">
              <a:latin typeface="Plus Jakarta Sans"/>
              <a:cs typeface="Plus Jakarta Sans"/>
            </a:endParaRPr>
          </a:p>
        </p:txBody>
      </p:sp>
      <p:sp>
        <p:nvSpPr>
          <p:cNvPr id="211141515" name="TextBox 165"/>
          <p:cNvSpPr txBox="1"/>
          <p:nvPr/>
        </p:nvSpPr>
        <p:spPr bwMode="auto">
          <a:xfrm>
            <a:off x="960120" y="38587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>
                <a:solidFill>
                  <a:srgbClr val="B9C0CC"/>
                </a:solidFill>
              </a:rPr>
              <a:t>Asset</a:t>
            </a:r>
            <a:endParaRPr/>
          </a:p>
        </p:txBody>
      </p:sp>
      <p:sp>
        <p:nvSpPr>
          <p:cNvPr id="794102260" name="TextBox 166"/>
          <p:cNvSpPr txBox="1"/>
          <p:nvPr/>
        </p:nvSpPr>
        <p:spPr bwMode="auto">
          <a:xfrm>
            <a:off x="1965960" y="3813048"/>
            <a:ext cx="3384000" cy="59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5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Domain-facing Windows endpoint</a:t>
            </a:r>
            <a:endParaRPr sz="1650">
              <a:latin typeface="Plus Jakarta Sans"/>
              <a:cs typeface="Plus Jakarta Sans"/>
            </a:endParaRPr>
          </a:p>
        </p:txBody>
      </p:sp>
      <p:sp>
        <p:nvSpPr>
          <p:cNvPr id="822424615" name="Rounded Rectangle 167"/>
          <p:cNvSpPr/>
          <p:nvPr/>
        </p:nvSpPr>
        <p:spPr bwMode="auto">
          <a:xfrm>
            <a:off x="6172200" y="1325880"/>
            <a:ext cx="5257800" cy="425196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8317366" name="TextBox 168"/>
          <p:cNvSpPr txBox="1"/>
          <p:nvPr/>
        </p:nvSpPr>
        <p:spPr bwMode="auto">
          <a:xfrm>
            <a:off x="6492240" y="162763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400" b="1">
                <a:solidFill>
                  <a:srgbClr val="63D8FF"/>
                </a:solidFill>
              </a:rPr>
              <a:t>Why P1?</a:t>
            </a:r>
            <a:endParaRPr/>
          </a:p>
        </p:txBody>
      </p:sp>
      <p:sp>
        <p:nvSpPr>
          <p:cNvPr id="2003453005" name="Rounded Rectangle 169"/>
          <p:cNvSpPr/>
          <p:nvPr/>
        </p:nvSpPr>
        <p:spPr bwMode="auto">
          <a:xfrm>
            <a:off x="6492240" y="2240280"/>
            <a:ext cx="502920" cy="502920"/>
          </a:xfrm>
          <a:prstGeom prst="roundRect">
            <a:avLst>
              <a:gd name="adj" fmla="val 16667"/>
            </a:avLst>
          </a:prstGeom>
          <a:solidFill>
            <a:srgbClr val="1B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7227304" name="TextBox 170"/>
          <p:cNvSpPr txBox="1"/>
          <p:nvPr/>
        </p:nvSpPr>
        <p:spPr bwMode="auto">
          <a:xfrm>
            <a:off x="6492240" y="22951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>
                <a:solidFill>
                  <a:srgbClr val="63D8FF"/>
                </a:solidFill>
              </a:rPr>
              <a:t>01</a:t>
            </a:r>
            <a:endParaRPr/>
          </a:p>
        </p:txBody>
      </p:sp>
      <p:sp>
        <p:nvSpPr>
          <p:cNvPr id="1765073190" name="TextBox 171"/>
          <p:cNvSpPr txBox="1"/>
          <p:nvPr/>
        </p:nvSpPr>
        <p:spPr bwMode="auto">
          <a:xfrm>
            <a:off x="7178039" y="2231136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700" b="1">
                <a:solidFill>
                  <a:srgbClr val="FFFFFF"/>
                </a:solidFill>
              </a:rPr>
              <a:t>Critical severity</a:t>
            </a:r>
            <a:endParaRPr/>
          </a:p>
        </p:txBody>
      </p:sp>
      <p:sp>
        <p:nvSpPr>
          <p:cNvPr id="65177121" name="Rounded Rectangle 172"/>
          <p:cNvSpPr/>
          <p:nvPr/>
        </p:nvSpPr>
        <p:spPr bwMode="auto">
          <a:xfrm>
            <a:off x="6492240" y="2990088"/>
            <a:ext cx="502920" cy="502920"/>
          </a:xfrm>
          <a:prstGeom prst="roundRect">
            <a:avLst>
              <a:gd name="adj" fmla="val 16667"/>
            </a:avLst>
          </a:prstGeom>
          <a:solidFill>
            <a:srgbClr val="1B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9632977" name="TextBox 173"/>
          <p:cNvSpPr txBox="1"/>
          <p:nvPr/>
        </p:nvSpPr>
        <p:spPr bwMode="auto">
          <a:xfrm>
            <a:off x="6492240" y="304495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>
                <a:solidFill>
                  <a:srgbClr val="63D8FF"/>
                </a:solidFill>
              </a:rPr>
              <a:t>02</a:t>
            </a:r>
            <a:endParaRPr/>
          </a:p>
        </p:txBody>
      </p:sp>
      <p:sp>
        <p:nvSpPr>
          <p:cNvPr id="131486427" name="TextBox 174"/>
          <p:cNvSpPr txBox="1"/>
          <p:nvPr/>
        </p:nvSpPr>
        <p:spPr bwMode="auto">
          <a:xfrm>
            <a:off x="7178039" y="2980944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700" b="1">
                <a:solidFill>
                  <a:srgbClr val="FFFFFF"/>
                </a:solidFill>
              </a:rPr>
              <a:t>Listed in CISA KEV</a:t>
            </a:r>
            <a:endParaRPr/>
          </a:p>
        </p:txBody>
      </p:sp>
      <p:sp>
        <p:nvSpPr>
          <p:cNvPr id="1895539550" name="Rounded Rectangle 175"/>
          <p:cNvSpPr/>
          <p:nvPr/>
        </p:nvSpPr>
        <p:spPr bwMode="auto">
          <a:xfrm>
            <a:off x="6492240" y="3739896"/>
            <a:ext cx="502920" cy="502920"/>
          </a:xfrm>
          <a:prstGeom prst="roundRect">
            <a:avLst>
              <a:gd name="adj" fmla="val 16667"/>
            </a:avLst>
          </a:prstGeom>
          <a:solidFill>
            <a:srgbClr val="1B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74172" name="TextBox 176"/>
          <p:cNvSpPr txBox="1"/>
          <p:nvPr/>
        </p:nvSpPr>
        <p:spPr bwMode="auto">
          <a:xfrm>
            <a:off x="6492240" y="379475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>
                <a:solidFill>
                  <a:srgbClr val="63D8FF"/>
                </a:solidFill>
              </a:rPr>
              <a:t>03</a:t>
            </a:r>
            <a:endParaRPr/>
          </a:p>
        </p:txBody>
      </p:sp>
      <p:sp>
        <p:nvSpPr>
          <p:cNvPr id="908266474" name="TextBox 177"/>
          <p:cNvSpPr txBox="1"/>
          <p:nvPr/>
        </p:nvSpPr>
        <p:spPr bwMode="auto">
          <a:xfrm>
            <a:off x="7178039" y="3730752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700" b="1">
                <a:solidFill>
                  <a:srgbClr val="FFFFFF"/>
                </a:solidFill>
              </a:rPr>
              <a:t>Highest-criticality asset</a:t>
            </a:r>
            <a:endParaRPr/>
          </a:p>
        </p:txBody>
      </p:sp>
      <p:sp>
        <p:nvSpPr>
          <p:cNvPr id="1152606024" name="Rounded Rectangle 178"/>
          <p:cNvSpPr/>
          <p:nvPr/>
        </p:nvSpPr>
        <p:spPr bwMode="auto">
          <a:xfrm>
            <a:off x="6492240" y="4489704"/>
            <a:ext cx="502920" cy="502920"/>
          </a:xfrm>
          <a:prstGeom prst="roundRect">
            <a:avLst>
              <a:gd name="adj" fmla="val 16667"/>
            </a:avLst>
          </a:prstGeom>
          <a:solidFill>
            <a:srgbClr val="1B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1095863" name="TextBox 179"/>
          <p:cNvSpPr txBox="1"/>
          <p:nvPr/>
        </p:nvSpPr>
        <p:spPr bwMode="auto">
          <a:xfrm>
            <a:off x="6492240" y="454456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>
                <a:solidFill>
                  <a:srgbClr val="63D8FF"/>
                </a:solidFill>
              </a:rPr>
              <a:t>04</a:t>
            </a:r>
            <a:endParaRPr/>
          </a:p>
        </p:txBody>
      </p:sp>
      <p:sp>
        <p:nvSpPr>
          <p:cNvPr id="421449005" name="TextBox 180"/>
          <p:cNvSpPr txBox="1"/>
          <p:nvPr/>
        </p:nvSpPr>
        <p:spPr bwMode="auto">
          <a:xfrm>
            <a:off x="7178039" y="4480560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700" b="1">
                <a:solidFill>
                  <a:srgbClr val="FFFFFF"/>
                </a:solidFill>
              </a:rPr>
              <a:t>Immediate action</a:t>
            </a:r>
            <a:endParaRPr/>
          </a:p>
        </p:txBody>
      </p:sp>
      <p:sp>
        <p:nvSpPr>
          <p:cNvPr id="809020804" name="TextBox 181"/>
          <p:cNvSpPr txBox="1"/>
          <p:nvPr/>
        </p:nvSpPr>
        <p:spPr bwMode="auto">
          <a:xfrm>
            <a:off x="685800" y="5806440"/>
            <a:ext cx="10700639" cy="32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500" b="1">
                <a:solidFill>
                  <a:srgbClr val="FFFFFF"/>
                </a:solidFill>
              </a:rPr>
              <a:t>P1 because it is Critical, KEV-listed, and affects the high</a:t>
            </a:r>
            <a:r>
              <a:rPr lang="en" sz="1500" b="1">
                <a:solidFill>
                  <a:srgbClr val="FFFFFF"/>
                </a:solidFill>
              </a:rPr>
              <a:t>e</a:t>
            </a:r>
            <a:r>
              <a:rPr sz="1500" b="1">
                <a:solidFill>
                  <a:srgbClr val="FFFFFF"/>
                </a:solidFill>
              </a:rPr>
              <a:t>st-criticality asset.</a:t>
            </a:r>
            <a:endParaRPr lang="en" sz="1500" b="1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5947728" name="Google Shape;173;p18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7267351" name="Google Shape;174;p18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581025" y="4157662"/>
            <a:ext cx="2536775" cy="1100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563769" name="Google Shape;175;p18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3412033" y="2485429"/>
            <a:ext cx="2536775" cy="1100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2031895" name="Google Shape;176;p18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6243042" y="4157662"/>
            <a:ext cx="2536775" cy="1100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2514317" name="Google Shape;177;p18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9074050" y="2485429"/>
            <a:ext cx="2536775" cy="1100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852320" name="Google Shape;178;p18" descr="image.png"/>
          <p:cNvPicPr/>
          <p:nvPr/>
        </p:nvPicPr>
        <p:blipFill rotWithShape="1">
          <a:blip r:embed="rId8">
            <a:alphaModFix/>
          </a:blip>
          <a:srcRect l="0" t="0" r="0" b="0"/>
          <a:stretch/>
        </p:blipFill>
        <p:spPr bwMode="auto">
          <a:xfrm>
            <a:off x="581025" y="557212"/>
            <a:ext cx="263574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1621457" name="Google Shape;179;p18"/>
          <p:cNvSpPr/>
          <p:nvPr/>
        </p:nvSpPr>
        <p:spPr bwMode="auto">
          <a:xfrm>
            <a:off x="581025" y="3852862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8995045" name="Google Shape;180;p18"/>
          <p:cNvSpPr txBox="1"/>
          <p:nvPr/>
        </p:nvSpPr>
        <p:spPr bwMode="auto">
          <a:xfrm>
            <a:off x="742950" y="4319587"/>
            <a:ext cx="232357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</a:rPr>
              <a:t>1. Mitigation</a:t>
            </a:r>
            <a:endParaRPr/>
          </a:p>
        </p:txBody>
      </p:sp>
      <p:sp>
        <p:nvSpPr>
          <p:cNvPr id="931798273" name="Google Shape;181;p18"/>
          <p:cNvSpPr txBox="1"/>
          <p:nvPr/>
        </p:nvSpPr>
        <p:spPr bwMode="auto">
          <a:xfrm>
            <a:off x="742950" y="4576762"/>
            <a:ext cx="2212925" cy="51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Stopped and disabled IKEEXT using PowerShell.</a:t>
            </a:r>
            <a:endParaRPr/>
          </a:p>
        </p:txBody>
      </p:sp>
      <p:sp>
        <p:nvSpPr>
          <p:cNvPr id="288740691" name="Google Shape;182;p18"/>
          <p:cNvSpPr txBox="1"/>
          <p:nvPr/>
        </p:nvSpPr>
        <p:spPr bwMode="auto">
          <a:xfrm>
            <a:off x="3573958" y="2647353"/>
            <a:ext cx="232357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</a:rPr>
              <a:t>2. Validation</a:t>
            </a:r>
            <a:endParaRPr/>
          </a:p>
        </p:txBody>
      </p:sp>
      <p:sp>
        <p:nvSpPr>
          <p:cNvPr id="1530743791" name="Google Shape;183;p18"/>
          <p:cNvSpPr txBox="1"/>
          <p:nvPr/>
        </p:nvSpPr>
        <p:spPr bwMode="auto">
          <a:xfrm>
            <a:off x="3573958" y="2904529"/>
            <a:ext cx="2212925" cy="51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Wazuh still detected the vulnerability because the component was not patched.</a:t>
            </a:r>
            <a:endParaRPr/>
          </a:p>
        </p:txBody>
      </p:sp>
      <p:sp>
        <p:nvSpPr>
          <p:cNvPr id="1430243087" name="Google Shape;184;p18"/>
          <p:cNvSpPr txBox="1"/>
          <p:nvPr/>
        </p:nvSpPr>
        <p:spPr bwMode="auto">
          <a:xfrm>
            <a:off x="6404967" y="4319587"/>
            <a:ext cx="232357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</a:rPr>
              <a:t>3. Patching</a:t>
            </a:r>
            <a:endParaRPr/>
          </a:p>
        </p:txBody>
      </p:sp>
      <p:sp>
        <p:nvSpPr>
          <p:cNvPr id="1217500466" name="Google Shape;185;p18"/>
          <p:cNvSpPr txBox="1"/>
          <p:nvPr/>
        </p:nvSpPr>
        <p:spPr bwMode="auto">
          <a:xfrm>
            <a:off x="6404967" y="4576762"/>
            <a:ext cx="2212925" cy="51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Complete the vendor patch when the network is stable.</a:t>
            </a:r>
            <a:endParaRPr/>
          </a:p>
        </p:txBody>
      </p:sp>
      <p:sp>
        <p:nvSpPr>
          <p:cNvPr id="1984382171" name="Google Shape;186;p18"/>
          <p:cNvSpPr txBox="1"/>
          <p:nvPr/>
        </p:nvSpPr>
        <p:spPr bwMode="auto">
          <a:xfrm>
            <a:off x="9235975" y="2647353"/>
            <a:ext cx="232357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</a:rPr>
              <a:t>4. Next Steps</a:t>
            </a:r>
            <a:endParaRPr/>
          </a:p>
        </p:txBody>
      </p:sp>
      <p:sp>
        <p:nvSpPr>
          <p:cNvPr id="1393557785" name="Google Shape;187;p18"/>
          <p:cNvSpPr txBox="1"/>
          <p:nvPr/>
        </p:nvSpPr>
        <p:spPr bwMode="auto">
          <a:xfrm>
            <a:off x="9235975" y="2904529"/>
            <a:ext cx="2212925" cy="51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Review the 578 Pending Evaluation findings and verify Ubuntu findings.</a:t>
            </a:r>
            <a:endParaRPr/>
          </a:p>
        </p:txBody>
      </p:sp>
      <p:sp>
        <p:nvSpPr>
          <p:cNvPr id="35645607" name="Google Shape;188;p18"/>
          <p:cNvSpPr txBox="1"/>
          <p:nvPr/>
        </p:nvSpPr>
        <p:spPr bwMode="auto">
          <a:xfrm>
            <a:off x="958899" y="485775"/>
            <a:ext cx="11184679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</a:rPr>
              <a:t>Remediation &amp; Current Status</a:t>
            </a:r>
            <a:endParaRPr/>
          </a:p>
        </p:txBody>
      </p:sp>
      <p:sp>
        <p:nvSpPr>
          <p:cNvPr id="1147973169" name="Google Shape;189;p18"/>
          <p:cNvSpPr/>
          <p:nvPr/>
        </p:nvSpPr>
        <p:spPr bwMode="auto">
          <a:xfrm>
            <a:off x="1754162" y="37766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78097605" name="Google Shape;190;p18"/>
          <p:cNvSpPr/>
          <p:nvPr/>
        </p:nvSpPr>
        <p:spPr bwMode="auto">
          <a:xfrm>
            <a:off x="4585171" y="37766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7820496" name="Google Shape;191;p18"/>
          <p:cNvSpPr/>
          <p:nvPr/>
        </p:nvSpPr>
        <p:spPr bwMode="auto">
          <a:xfrm>
            <a:off x="7416179" y="37766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328008" name="Google Shape;192;p18"/>
          <p:cNvSpPr/>
          <p:nvPr/>
        </p:nvSpPr>
        <p:spPr bwMode="auto">
          <a:xfrm>
            <a:off x="10247188" y="37766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2230832" name="Google Shape;197;p19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600656" name="Google Shape;198;p19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5386387" y="1911697"/>
            <a:ext cx="141922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1118614" name="Google Shape;199;p19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2257425" y="3898552"/>
            <a:ext cx="76771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754428" name="Google Shape;200;p19"/>
          <p:cNvSpPr txBox="1"/>
          <p:nvPr/>
        </p:nvSpPr>
        <p:spPr bwMode="auto">
          <a:xfrm>
            <a:off x="4578314" y="2397472"/>
            <a:ext cx="3035223" cy="700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800" b="0" i="0" u="none" strike="noStrike" cap="non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</a:rPr>
              <a:t>Thank You</a:t>
            </a:r>
            <a:endParaRPr/>
          </a:p>
        </p:txBody>
      </p:sp>
      <p:sp>
        <p:nvSpPr>
          <p:cNvPr id="914246118" name="Google Shape;201;p19"/>
          <p:cNvSpPr txBox="1"/>
          <p:nvPr/>
        </p:nvSpPr>
        <p:spPr bwMode="auto">
          <a:xfrm>
            <a:off x="4967287" y="3212752"/>
            <a:ext cx="2257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Questions?</a:t>
            </a:r>
            <a:endParaRPr/>
          </a:p>
        </p:txBody>
      </p:sp>
      <p:pic>
        <p:nvPicPr>
          <p:cNvPr id="1800809162" name="Google Shape;202;p19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5548312" y="2011709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0070087" name="Google Shape;203;p19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2724150" y="421287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7679747" name="Google Shape;204;p19" descr="image.png"/>
          <p:cNvPicPr/>
          <p:nvPr/>
        </p:nvPicPr>
        <p:blipFill rotWithShape="1">
          <a:blip r:embed="rId8">
            <a:alphaModFix/>
          </a:blip>
          <a:srcRect l="0" t="0" r="0" b="0"/>
          <a:stretch/>
        </p:blipFill>
        <p:spPr bwMode="auto">
          <a:xfrm>
            <a:off x="4914900" y="421287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6968023" name="Google Shape;205;p19" descr="image.png"/>
          <p:cNvPicPr/>
          <p:nvPr/>
        </p:nvPicPr>
        <p:blipFill rotWithShape="1">
          <a:blip r:embed="rId9">
            <a:alphaModFix/>
          </a:blip>
          <a:srcRect l="0" t="0" r="0" b="0"/>
          <a:stretch/>
        </p:blipFill>
        <p:spPr bwMode="auto">
          <a:xfrm>
            <a:off x="7505700" y="421287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0411605" name="Google Shape;206;p19"/>
          <p:cNvSpPr txBox="1"/>
          <p:nvPr/>
        </p:nvSpPr>
        <p:spPr bwMode="auto">
          <a:xfrm>
            <a:off x="3257550" y="4216747"/>
            <a:ext cx="1276350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</a:rPr>
              <a:t>PHONE</a:t>
            </a:r>
            <a:endParaRPr/>
          </a:p>
        </p:txBody>
      </p:sp>
      <p:sp>
        <p:nvSpPr>
          <p:cNvPr id="1746038040" name="Google Shape;207;p19"/>
          <p:cNvSpPr txBox="1"/>
          <p:nvPr/>
        </p:nvSpPr>
        <p:spPr bwMode="auto">
          <a:xfrm>
            <a:off x="3257550" y="4399508"/>
            <a:ext cx="12763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+234 7063612727</a:t>
            </a:r>
            <a:endParaRPr/>
          </a:p>
        </p:txBody>
      </p:sp>
      <p:sp>
        <p:nvSpPr>
          <p:cNvPr id="1348724732" name="Google Shape;208;p19"/>
          <p:cNvSpPr txBox="1"/>
          <p:nvPr/>
        </p:nvSpPr>
        <p:spPr bwMode="auto">
          <a:xfrm>
            <a:off x="5448300" y="4216747"/>
            <a:ext cx="1676400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</a:rPr>
              <a:t>EMAIL</a:t>
            </a:r>
            <a:endParaRPr/>
          </a:p>
        </p:txBody>
      </p:sp>
      <p:sp>
        <p:nvSpPr>
          <p:cNvPr id="2140296520" name="Google Shape;209;p19"/>
          <p:cNvSpPr txBox="1"/>
          <p:nvPr/>
        </p:nvSpPr>
        <p:spPr bwMode="auto">
          <a:xfrm>
            <a:off x="5448300" y="4399508"/>
            <a:ext cx="167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khayzed101@gmail.com</a:t>
            </a:r>
            <a:endParaRPr/>
          </a:p>
        </p:txBody>
      </p:sp>
      <p:sp>
        <p:nvSpPr>
          <p:cNvPr id="1414143948" name="Google Shape;210;p19"/>
          <p:cNvSpPr txBox="1"/>
          <p:nvPr/>
        </p:nvSpPr>
        <p:spPr bwMode="auto">
          <a:xfrm>
            <a:off x="8039100" y="4216747"/>
            <a:ext cx="1428750" cy="18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</a:rPr>
              <a:t>LINKEDIN</a:t>
            </a:r>
            <a:endParaRPr/>
          </a:p>
        </p:txBody>
      </p:sp>
      <p:sp>
        <p:nvSpPr>
          <p:cNvPr id="73173301" name="Google Shape;211;p19"/>
          <p:cNvSpPr txBox="1"/>
          <p:nvPr/>
        </p:nvSpPr>
        <p:spPr bwMode="auto">
          <a:xfrm>
            <a:off x="8039100" y="4399508"/>
            <a:ext cx="1428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</a:rPr>
              <a:t>Ayomikun Ashogbon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1</cp:revision>
  <dcterms:modified xsi:type="dcterms:W3CDTF">2026-09-17T22:24:06Z</dcterms:modified>
</cp:coreProperties>
</file>